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6ec37cb-3172-abe2-22db-61550fb3f877}">
          <p14:sldIdLst>
            <p14:sldId id="256"/>
          </p14:sldIdLst>
        </p14:section>
        <p14:section name="The question" id="{96395a55-e7f8-8ece-ff19-a1963132dd03}">
          <p14:sldIdLst>
            <p14:sldId id="257"/>
          </p14:sldIdLst>
        </p14:section>
        <p14:section name="Approach" id="{ec24ff7b-4120-2919-21ab-290aa2f95bec}">
          <p14:sldIdLst>
            <p14:sldId id="258"/>
          </p14:sldIdLst>
        </p14:section>
        <p14:section name="Results" id="{af5d8035-72d8-bb41-d777-bbbb93531c23}">
          <p14:sldIdLst>
            <p14:sldId id="259"/>
          </p14:sldIdLst>
        </p14:section>
        <p14:section name="Conclusion" id="{62096345-ac77-faf7-1f2c-c92323856acb}">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Duration MAE (ms)</c:v>
                </c:pt>
              </c:strCache>
            </c:strRef>
          </c:tx>
          <c:spPr>
            <a:solidFill>
              <a:srgbClr val="9AB2BF"/>
            </a:solidFill>
            <a:effectLst/>
          </c:spPr>
          <c:invertIfNegative val="0"/>
          <c:dLbls>
            <c:numFmt formatCode="0.0&quot; ms&quot;" sourceLinked="0"/>
            <c:txPr>
              <a:bodyPr/>
              <a:lstStyle/>
              <a:p>
                <a:pPr>
                  <a:defRPr b="0" i="0" strike="noStrike" sz="1100" u="none">
                    <a:solidFill>
                      <a:srgbClr val="3A4A58"/>
                    </a:solidFill>
                    <a:latin typeface="+mn-lt"/>
                  </a:defRPr>
                </a:pPr>
              </a:p>
            </c:txPr>
            <c:showLegendKey val="0"/>
            <c:showVal val="1"/>
            <c:showCatName val="0"/>
            <c:showSerName val="0"/>
            <c:showPercent val="0"/>
            <c:showBubbleSize val="0"/>
            <c:showLeaderLines val="0"/>
          </c:dLbls>
          <c:dPt>
            <c:idx val="0"/>
            <c:invertIfNegative val="0"/>
            <c:bubble3D val="0"/>
            <c:spPr>
              <a:solidFill>
                <a:srgbClr val="9AB2BF"/>
              </a:solidFill>
              <a:effectLst/>
            </c:spPr>
          </c:dPt>
          <c:dPt>
            <c:idx val="1"/>
            <c:invertIfNegative val="0"/>
            <c:bubble3D val="0"/>
            <c:spPr>
              <a:solidFill>
                <a:srgbClr val="1C7293"/>
              </a:solidFill>
              <a:effectLst/>
            </c:spPr>
          </c:dPt>
          <c:dPt>
            <c:idx val="2"/>
            <c:invertIfNegative val="0"/>
            <c:bubble3D val="0"/>
            <c:spPr>
              <a:solidFill>
                <a:srgbClr val="02C39A"/>
              </a:solidFill>
              <a:effectLst/>
            </c:spPr>
          </c:dPt>
          <c:cat>
            <c:multiLvlStrRef>
              <c:f>Sheet1!$A$2:$A$4</c:f>
              <c:multiLvlStrCache>
                <c:ptCount val="3"/>
                <c:lvl>
                  <c:pt idx="0">
                    <c:v>Per-phone average
(baseline)</c:v>
                  </c:pt>
                  <c:pt idx="1">
                    <c:v>Ridge regression</c:v>
                  </c:pt>
                  <c:pt idx="2">
                    <c:v>Boosted trees
(ours)</c:v>
                  </c:pt>
                </c:lvl>
              </c:multiLvlStrCache>
            </c:multiLvlStrRef>
          </c:cat>
          <c:val>
            <c:numRef>
              <c:f>Sheet1!$B$2:$B$4</c:f>
              <c:numCache>
                <c:formatCode>General</c:formatCode>
                <c:ptCount val="3"/>
                <c:pt idx="0">
                  <c:v>30.6135</c:v>
                </c:pt>
                <c:pt idx="1">
                  <c:v>27.1424</c:v>
                </c:pt>
                <c:pt idx="2">
                  <c:v>19.6527</c:v>
                </c:pt>
              </c:numCache>
            </c:numRef>
          </c:val>
        </c:ser>
        <c:dLbls>
          <c:numFmt formatCode="0.0&quot; ms&quot;" sourceLinked="0"/>
          <c:txPr>
            <a:bodyPr/>
            <a:lstStyle/>
            <a:p>
              <a:pPr>
                <a:defRPr b="0" i="0" strike="noStrike" sz="1100" u="none">
                  <a:solidFill>
                    <a:srgbClr val="3A4A5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A4A58"/>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6EDF1"/>
              </a:solidFill>
              <a:prstDash val="solid"/>
              <a:round/>
            </a:ln>
          </c:spPr>
        </c:majorGridlines>
        <c:title>
          <c:tx>
            <c:rich>
              <a:bodyPr/>
              <a:lstStyle/>
              <a:p>
                <a:pPr>
                  <a:defRPr sz="900" b="0" i="0" u="none" strike="noStrike">
                    <a:solidFill>
                      <a:srgbClr val="6B7A88"/>
                    </a:solidFill>
                    <a:latin typeface="+mn-lt"/>
                  </a:defRPr>
                </a:pPr>
                <a:r>
                  <a:rPr sz="900" b="0" i="0" u="none" strike="noStrike">
                    <a:solidFill>
                      <a:srgbClr val="6B7A88"/>
                    </a:solidFill>
                    <a:latin typeface="+mn-lt"/>
                  </a:rPr>
                  <a:t>mean absolute error (ms)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A88"/>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small text-to-speech system, but the goal was not the best-sounding voice. It was to answer one measurable question,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project in one idea. If they ask only one question it will be this. Honest framing: we are not inventing a new model, we are measuring an assumption FastSpeech 2 makes but never isolates.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distance-to-nearest-pause feature captures a real effect: the sound just before a pause gets stretched. We did not invent it, we measured it. Mention the control test — it shows we validated rather than assumed.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 = Word Error Rate: we let Whisper listen and compare its transcript to the truth. It measures intelligibility, not naturalness. Our templates are one average spectrum per phone, so the audio is understandable but obviously synthetic - that is by design, so duration can be isolated.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pushed on why the synthetic audio is worse than the real recording: that is the expected consequence of a deliberately simple acoustic model. The project was never trying to win on audio quality - the experiment is the A1 vs A2 comparison, which is only meaningful because the acoustic model is held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3716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731520" y="2743200"/>
            <a:ext cx="10698480" cy="731520"/>
          </a:xfrm>
          <a:prstGeom prst="rect">
            <a:avLst/>
          </a:prstGeom>
          <a:noFill/>
          <a:ln/>
        </p:spPr>
        <p:txBody>
          <a:bodyPr wrap="square" rtlCol="0"/>
          <a:lstStyle>
            <a:lvl1pPr algn="l" indent="0" marL="0">
              <a:buNone/>
              <a:defRPr lang="en-US" sz="1800" dirty="0">
                <a:solidFill>
                  <a:srgbClr val="7FB5C9"/>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13232"/>
          </a:xfrm>
          <a:prstGeom prst="rect">
            <a:avLst/>
          </a:prstGeom>
          <a:noFill/>
          <a:ln/>
        </p:spPr>
        <p:txBody>
          <a:bodyPr wrap="square" rtlCol="0"/>
          <a:lstStyle>
            <a:lvl1pPr algn="l" indent="0" marL="0">
              <a:buNone/>
              <a:defRPr lang="en-US" sz="3600" b="1" dirty="0">
                <a:solidFill>
                  <a:schemeClr val="accent3"/>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B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13232"/>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8A99"/>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B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371600"/>
          </a:xfrm>
          <a:prstGeom prst="rect">
            <a:avLst/>
          </a:prstGeom>
          <a:noFill/>
          <a:ln/>
        </p:spPr>
        <p:txBody>
          <a:bodyPr wrap="square" rtlCol="0"/>
          <a:lstStyle/>
          <a:p>
            <a:pPr algn="l" indent="0" marL="0">
              <a:buNone/>
            </a:pPr>
            <a:r>
              <a:rPr lang="en-US" sz="4200" b="1" dirty="0">
                <a:solidFill>
                  <a:schemeClr val="bg1"/>
                </a:solidFill>
              </a:rPr>
              <a:t>Phonetic-Guided Speech Generation</a:t>
            </a:r>
            <a:endParaRPr lang="en-US" sz="4200" dirty="0"/>
          </a:p>
        </p:txBody>
      </p:sp>
      <p:sp>
        <p:nvSpPr>
          <p:cNvPr id="3" name="Text 0"/>
          <p:cNvSpPr/>
          <p:nvPr>
            <p:ph idx="101" type="body" hasCustomPrompt="1"/>
          </p:nvPr>
        </p:nvSpPr>
        <p:spPr>
          <a:xfrm>
            <a:off x="731520" y="2743200"/>
            <a:ext cx="10698480" cy="731520"/>
          </a:xfrm>
          <a:prstGeom prst="rect">
            <a:avLst/>
          </a:prstGeom>
          <a:noFill/>
          <a:ln/>
        </p:spPr>
        <p:txBody>
          <a:bodyPr wrap="square" rtlCol="0"/>
          <a:lstStyle/>
          <a:p>
            <a:pPr algn="l" indent="0" marL="0">
              <a:buNone/>
            </a:pPr>
            <a:r>
              <a:rPr lang="en-US" sz="1800" dirty="0">
                <a:solidFill>
                  <a:srgbClr val="7FB5C9"/>
                </a:solidFill>
              </a:rPr>
              <a:t>How much does timing matter in synthetic speech?</a:t>
            </a:r>
            <a:endParaRPr lang="en-US" sz="1800" dirty="0"/>
          </a:p>
        </p:txBody>
      </p:sp>
      <p:graphicFrame>
        <p:nvGraphicFramePr>
          <p:cNvPr id="2" name="teamTable"/>
          <p:cNvGraphicFramePr>
            <a:graphicFrameLocks noGrp="1"/>
          </p:cNvGraphicFramePr>
          <p:nvPr>
            <p:extLst>
              <p:ext uri="{D42A27DB-BD31-4B8C-83A1-F6EECF244321}">
                <p14:modId xmlns:p14="http://schemas.microsoft.com/office/powerpoint/2010/main" val="1579011935"/>
              </p:ext>
            </p:extLst>
          </p:nvPr>
        </p:nvGraphicFramePr>
        <p:xfrm>
          <a:off x="731520" y="3703320"/>
          <a:ext cx="10698480" cy="914400"/>
        </p:xfrm>
        <a:graphic>
          <a:graphicData uri="http://schemas.openxmlformats.org/drawingml/2006/table">
            <a:tbl>
              <a:tblPr/>
              <a:tblGrid>
                <a:gridCol w="2926080"/>
                <a:gridCol w="7772400"/>
              </a:tblGrid>
              <a:tr h="384048">
                <a:tc>
                  <a:txBody>
                    <a:bodyPr/>
                    <a:lstStyle/>
                    <a:p>
                      <a:pPr indent="0" marL="0">
                        <a:buNone/>
                      </a:pPr>
                      <a:r>
                        <a:rPr lang="en-US" sz="1300" b="1" dirty="0">
                          <a:solidFill>
                            <a:srgbClr val="FFFFFF"/>
                          </a:solidFill>
                        </a:rPr>
                        <a:t>Kunal Vats</a:t>
                      </a:r>
                      <a:endParaRPr lang="en-US" sz="1300" dirty="0"/>
                    </a:p>
                  </a:txBody>
                  <a:tcPr marL="73152" marR="73152" marT="73152" marB="73152">
                    <a:lnL w="12700" cap="flat" cmpd="sng" algn="ctr">
                      <a:solidFill>
                        <a:srgbClr val="2A3C56"/>
                      </a:solidFill>
                      <a:prstDash val="solid"/>
                      <a:round/>
                      <a:headEnd type="none" w="med" len="med"/>
                      <a:tailEnd type="none" w="med" len="med"/>
                    </a:lnL>
                    <a:lnR w="12700" cap="flat" cmpd="sng" algn="ctr">
                      <a:solidFill>
                        <a:srgbClr val="2A3C56"/>
                      </a:solidFill>
                      <a:prstDash val="solid"/>
                      <a:round/>
                      <a:headEnd type="none" w="med" len="med"/>
                      <a:tailEnd type="none" w="med" len="med"/>
                    </a:lnR>
                    <a:lnT w="12700" cap="flat" cmpd="sng" algn="ctr">
                      <a:solidFill>
                        <a:srgbClr val="2A3C56"/>
                      </a:solidFill>
                      <a:prstDash val="solid"/>
                      <a:round/>
                      <a:headEnd type="none" w="med" len="med"/>
                      <a:tailEnd type="none" w="med" len="med"/>
                    </a:lnT>
                    <a:lnB w="12700" cap="flat" cmpd="sng" algn="ctr">
                      <a:solidFill>
                        <a:srgbClr val="2A3C56"/>
                      </a:solidFill>
                      <a:prstDash val="solid"/>
                      <a:round/>
                      <a:headEnd type="none" w="med" len="med"/>
                      <a:tailEnd type="none" w="med" len="med"/>
                    </a:lnB>
                  </a:tcPr>
                </a:tc>
                <a:tc>
                  <a:txBody>
                    <a:bodyPr/>
                    <a:lstStyle/>
                    <a:p>
                      <a:pPr indent="0" marL="0">
                        <a:buNone/>
                      </a:pPr>
                      <a:r>
                        <a:rPr lang="en-US" sz="1200" dirty="0">
                          <a:solidFill>
                            <a:srgbClr val="BFD4DE"/>
                          </a:solidFill>
                        </a:rPr>
                        <a:t>Data — cleaning, splits, shared settings  ·  Duration model (with Pushkar)</a:t>
                      </a:r>
                      <a:endParaRPr lang="en-US" sz="1200" dirty="0"/>
                    </a:p>
                  </a:txBody>
                  <a:tcPr marL="73152" marR="73152" marT="73152" marB="73152">
                    <a:lnL w="12700" cap="flat" cmpd="sng" algn="ctr">
                      <a:solidFill>
                        <a:srgbClr val="2A3C56"/>
                      </a:solidFill>
                      <a:prstDash val="solid"/>
                      <a:round/>
                      <a:headEnd type="none" w="med" len="med"/>
                      <a:tailEnd type="none" w="med" len="med"/>
                    </a:lnL>
                    <a:lnR w="12700" cap="flat" cmpd="sng" algn="ctr">
                      <a:solidFill>
                        <a:srgbClr val="2A3C56"/>
                      </a:solidFill>
                      <a:prstDash val="solid"/>
                      <a:round/>
                      <a:headEnd type="none" w="med" len="med"/>
                      <a:tailEnd type="none" w="med" len="med"/>
                    </a:lnR>
                    <a:lnT w="12700" cap="flat" cmpd="sng" algn="ctr">
                      <a:solidFill>
                        <a:srgbClr val="2A3C56"/>
                      </a:solidFill>
                      <a:prstDash val="solid"/>
                      <a:round/>
                      <a:headEnd type="none" w="med" len="med"/>
                      <a:tailEnd type="none" w="med" len="med"/>
                    </a:lnT>
                    <a:lnB w="12700" cap="flat" cmpd="sng" algn="ctr">
                      <a:solidFill>
                        <a:srgbClr val="2A3C56"/>
                      </a:solidFill>
                      <a:prstDash val="solid"/>
                      <a:round/>
                      <a:headEnd type="none" w="med" len="med"/>
                      <a:tailEnd type="none" w="med" len="med"/>
                    </a:lnB>
                  </a:tcPr>
                </a:tc>
              </a:tr>
              <a:tr h="384048">
                <a:tc>
                  <a:txBody>
                    <a:bodyPr/>
                    <a:lstStyle/>
                    <a:p>
                      <a:pPr indent="0" marL="0">
                        <a:buNone/>
                      </a:pPr>
                      <a:r>
                        <a:rPr lang="en-US" sz="1300" b="1" dirty="0">
                          <a:solidFill>
                            <a:srgbClr val="FFFFFF"/>
                          </a:solidFill>
                        </a:rPr>
                        <a:t>Pushkar Jain</a:t>
                      </a:r>
                      <a:endParaRPr lang="en-US" sz="1300" dirty="0"/>
                    </a:p>
                  </a:txBody>
                  <a:tcPr marL="73152" marR="73152" marT="73152" marB="73152">
                    <a:lnL w="12700" cap="flat" cmpd="sng" algn="ctr">
                      <a:solidFill>
                        <a:srgbClr val="2A3C56"/>
                      </a:solidFill>
                      <a:prstDash val="solid"/>
                      <a:round/>
                      <a:headEnd type="none" w="med" len="med"/>
                      <a:tailEnd type="none" w="med" len="med"/>
                    </a:lnL>
                    <a:lnR w="12700" cap="flat" cmpd="sng" algn="ctr">
                      <a:solidFill>
                        <a:srgbClr val="2A3C56"/>
                      </a:solidFill>
                      <a:prstDash val="solid"/>
                      <a:round/>
                      <a:headEnd type="none" w="med" len="med"/>
                      <a:tailEnd type="none" w="med" len="med"/>
                    </a:lnR>
                    <a:lnT w="12700" cap="flat" cmpd="sng" algn="ctr">
                      <a:solidFill>
                        <a:srgbClr val="2A3C56"/>
                      </a:solidFill>
                      <a:prstDash val="solid"/>
                      <a:round/>
                      <a:headEnd type="none" w="med" len="med"/>
                      <a:tailEnd type="none" w="med" len="med"/>
                    </a:lnT>
                    <a:lnB w="12700" cap="flat" cmpd="sng" algn="ctr">
                      <a:solidFill>
                        <a:srgbClr val="2A3C56"/>
                      </a:solidFill>
                      <a:prstDash val="solid"/>
                      <a:round/>
                      <a:headEnd type="none" w="med" len="med"/>
                      <a:tailEnd type="none" w="med" len="med"/>
                    </a:lnB>
                  </a:tcPr>
                </a:tc>
                <a:tc>
                  <a:txBody>
                    <a:bodyPr/>
                    <a:lstStyle/>
                    <a:p>
                      <a:pPr indent="0" marL="0">
                        <a:buNone/>
                      </a:pPr>
                      <a:r>
                        <a:rPr lang="en-US" sz="1200" dirty="0">
                          <a:solidFill>
                            <a:srgbClr val="BFD4DE"/>
                          </a:solidFill>
                        </a:rPr>
                        <a:t>Duration model — features, 3 models, error analysis (with Kunal)</a:t>
                      </a:r>
                      <a:endParaRPr lang="en-US" sz="1200" dirty="0"/>
                    </a:p>
                  </a:txBody>
                  <a:tcPr marL="73152" marR="73152" marT="73152" marB="73152">
                    <a:lnL w="12700" cap="flat" cmpd="sng" algn="ctr">
                      <a:solidFill>
                        <a:srgbClr val="2A3C56"/>
                      </a:solidFill>
                      <a:prstDash val="solid"/>
                      <a:round/>
                      <a:headEnd type="none" w="med" len="med"/>
                      <a:tailEnd type="none" w="med" len="med"/>
                    </a:lnL>
                    <a:lnR w="12700" cap="flat" cmpd="sng" algn="ctr">
                      <a:solidFill>
                        <a:srgbClr val="2A3C56"/>
                      </a:solidFill>
                      <a:prstDash val="solid"/>
                      <a:round/>
                      <a:headEnd type="none" w="med" len="med"/>
                      <a:tailEnd type="none" w="med" len="med"/>
                    </a:lnR>
                    <a:lnT w="12700" cap="flat" cmpd="sng" algn="ctr">
                      <a:solidFill>
                        <a:srgbClr val="2A3C56"/>
                      </a:solidFill>
                      <a:prstDash val="solid"/>
                      <a:round/>
                      <a:headEnd type="none" w="med" len="med"/>
                      <a:tailEnd type="none" w="med" len="med"/>
                    </a:lnT>
                    <a:lnB w="12700" cap="flat" cmpd="sng" algn="ctr">
                      <a:solidFill>
                        <a:srgbClr val="2A3C56"/>
                      </a:solidFill>
                      <a:prstDash val="solid"/>
                      <a:round/>
                      <a:headEnd type="none" w="med" len="med"/>
                      <a:tailEnd type="none" w="med" len="med"/>
                    </a:lnB>
                  </a:tcPr>
                </a:tc>
              </a:tr>
              <a:tr h="384048">
                <a:tc>
                  <a:txBody>
                    <a:bodyPr/>
                    <a:lstStyle/>
                    <a:p>
                      <a:pPr indent="0" marL="0">
                        <a:buNone/>
                      </a:pPr>
                      <a:r>
                        <a:rPr lang="en-US" sz="1300" b="1" dirty="0">
                          <a:solidFill>
                            <a:srgbClr val="FFFFFF"/>
                          </a:solidFill>
                        </a:rPr>
                        <a:t>Tanishk Agrawal</a:t>
                      </a:r>
                      <a:endParaRPr lang="en-US" sz="1300" dirty="0"/>
                    </a:p>
                  </a:txBody>
                  <a:tcPr marL="73152" marR="73152" marT="73152" marB="73152">
                    <a:lnL w="12700" cap="flat" cmpd="sng" algn="ctr">
                      <a:solidFill>
                        <a:srgbClr val="2A3C56"/>
                      </a:solidFill>
                      <a:prstDash val="solid"/>
                      <a:round/>
                      <a:headEnd type="none" w="med" len="med"/>
                      <a:tailEnd type="none" w="med" len="med"/>
                    </a:lnL>
                    <a:lnR w="12700" cap="flat" cmpd="sng" algn="ctr">
                      <a:solidFill>
                        <a:srgbClr val="2A3C56"/>
                      </a:solidFill>
                      <a:prstDash val="solid"/>
                      <a:round/>
                      <a:headEnd type="none" w="med" len="med"/>
                      <a:tailEnd type="none" w="med" len="med"/>
                    </a:lnR>
                    <a:lnT w="12700" cap="flat" cmpd="sng" algn="ctr">
                      <a:solidFill>
                        <a:srgbClr val="2A3C56"/>
                      </a:solidFill>
                      <a:prstDash val="solid"/>
                      <a:round/>
                      <a:headEnd type="none" w="med" len="med"/>
                      <a:tailEnd type="none" w="med" len="med"/>
                    </a:lnT>
                    <a:lnB w="12700" cap="flat" cmpd="sng" algn="ctr">
                      <a:solidFill>
                        <a:srgbClr val="2A3C56"/>
                      </a:solidFill>
                      <a:prstDash val="solid"/>
                      <a:round/>
                      <a:headEnd type="none" w="med" len="med"/>
                      <a:tailEnd type="none" w="med" len="med"/>
                    </a:lnB>
                  </a:tcPr>
                </a:tc>
                <a:tc>
                  <a:txBody>
                    <a:bodyPr/>
                    <a:lstStyle/>
                    <a:p>
                      <a:pPr indent="0" marL="0">
                        <a:buNone/>
                      </a:pPr>
                      <a:r>
                        <a:rPr lang="en-US" sz="1200" dirty="0">
                          <a:solidFill>
                            <a:srgbClr val="BFD4DE"/>
                          </a:solidFill>
                        </a:rPr>
                        <a:t>Alignment — forced alignment, phone durations</a:t>
                      </a:r>
                      <a:endParaRPr lang="en-US" sz="1200" dirty="0"/>
                    </a:p>
                  </a:txBody>
                  <a:tcPr marL="73152" marR="73152" marT="73152" marB="73152">
                    <a:lnL w="12700" cap="flat" cmpd="sng" algn="ctr">
                      <a:solidFill>
                        <a:srgbClr val="2A3C56"/>
                      </a:solidFill>
                      <a:prstDash val="solid"/>
                      <a:round/>
                      <a:headEnd type="none" w="med" len="med"/>
                      <a:tailEnd type="none" w="med" len="med"/>
                    </a:lnL>
                    <a:lnR w="12700" cap="flat" cmpd="sng" algn="ctr">
                      <a:solidFill>
                        <a:srgbClr val="2A3C56"/>
                      </a:solidFill>
                      <a:prstDash val="solid"/>
                      <a:round/>
                      <a:headEnd type="none" w="med" len="med"/>
                      <a:tailEnd type="none" w="med" len="med"/>
                    </a:lnR>
                    <a:lnT w="12700" cap="flat" cmpd="sng" algn="ctr">
                      <a:solidFill>
                        <a:srgbClr val="2A3C56"/>
                      </a:solidFill>
                      <a:prstDash val="solid"/>
                      <a:round/>
                      <a:headEnd type="none" w="med" len="med"/>
                      <a:tailEnd type="none" w="med" len="med"/>
                    </a:lnT>
                    <a:lnB w="12700" cap="flat" cmpd="sng" algn="ctr">
                      <a:solidFill>
                        <a:srgbClr val="2A3C56"/>
                      </a:solidFill>
                      <a:prstDash val="solid"/>
                      <a:round/>
                      <a:headEnd type="none" w="med" len="med"/>
                      <a:tailEnd type="none" w="med" len="med"/>
                    </a:lnB>
                  </a:tcPr>
                </a:tc>
              </a:tr>
              <a:tr h="384048">
                <a:tc>
                  <a:txBody>
                    <a:bodyPr/>
                    <a:lstStyle/>
                    <a:p>
                      <a:pPr indent="0" marL="0">
                        <a:buNone/>
                      </a:pPr>
                      <a:r>
                        <a:rPr lang="en-US" sz="1300" b="1" dirty="0">
                          <a:solidFill>
                            <a:srgbClr val="FFFFFF"/>
                          </a:solidFill>
                        </a:rPr>
                        <a:t>Shaurya Sharma</a:t>
                      </a:r>
                      <a:endParaRPr lang="en-US" sz="1300" dirty="0"/>
                    </a:p>
                  </a:txBody>
                  <a:tcPr marL="73152" marR="73152" marT="73152" marB="73152">
                    <a:lnL w="12700" cap="flat" cmpd="sng" algn="ctr">
                      <a:solidFill>
                        <a:srgbClr val="2A3C56"/>
                      </a:solidFill>
                      <a:prstDash val="solid"/>
                      <a:round/>
                      <a:headEnd type="none" w="med" len="med"/>
                      <a:tailEnd type="none" w="med" len="med"/>
                    </a:lnL>
                    <a:lnR w="12700" cap="flat" cmpd="sng" algn="ctr">
                      <a:solidFill>
                        <a:srgbClr val="2A3C56"/>
                      </a:solidFill>
                      <a:prstDash val="solid"/>
                      <a:round/>
                      <a:headEnd type="none" w="med" len="med"/>
                      <a:tailEnd type="none" w="med" len="med"/>
                    </a:lnR>
                    <a:lnT w="12700" cap="flat" cmpd="sng" algn="ctr">
                      <a:solidFill>
                        <a:srgbClr val="2A3C56"/>
                      </a:solidFill>
                      <a:prstDash val="solid"/>
                      <a:round/>
                      <a:headEnd type="none" w="med" len="med"/>
                      <a:tailEnd type="none" w="med" len="med"/>
                    </a:lnT>
                    <a:lnB w="12700" cap="flat" cmpd="sng" algn="ctr">
                      <a:solidFill>
                        <a:srgbClr val="2A3C56"/>
                      </a:solidFill>
                      <a:prstDash val="solid"/>
                      <a:round/>
                      <a:headEnd type="none" w="med" len="med"/>
                      <a:tailEnd type="none" w="med" len="med"/>
                    </a:lnB>
                  </a:tcPr>
                </a:tc>
                <a:tc>
                  <a:txBody>
                    <a:bodyPr/>
                    <a:lstStyle/>
                    <a:p>
                      <a:pPr indent="0" marL="0">
                        <a:buNone/>
                      </a:pPr>
                      <a:r>
                        <a:rPr lang="en-US" sz="1200" dirty="0">
                          <a:solidFill>
                            <a:srgbClr val="BFD4DE"/>
                          </a:solidFill>
                        </a:rPr>
                        <a:t>Sound — spectrograms, templates, vocoder, synthesis</a:t>
                      </a:r>
                      <a:endParaRPr lang="en-US" sz="1200" dirty="0"/>
                    </a:p>
                  </a:txBody>
                  <a:tcPr marL="73152" marR="73152" marT="73152" marB="73152">
                    <a:lnL w="12700" cap="flat" cmpd="sng" algn="ctr">
                      <a:solidFill>
                        <a:srgbClr val="2A3C56"/>
                      </a:solidFill>
                      <a:prstDash val="solid"/>
                      <a:round/>
                      <a:headEnd type="none" w="med" len="med"/>
                      <a:tailEnd type="none" w="med" len="med"/>
                    </a:lnL>
                    <a:lnR w="12700" cap="flat" cmpd="sng" algn="ctr">
                      <a:solidFill>
                        <a:srgbClr val="2A3C56"/>
                      </a:solidFill>
                      <a:prstDash val="solid"/>
                      <a:round/>
                      <a:headEnd type="none" w="med" len="med"/>
                      <a:tailEnd type="none" w="med" len="med"/>
                    </a:lnR>
                    <a:lnT w="12700" cap="flat" cmpd="sng" algn="ctr">
                      <a:solidFill>
                        <a:srgbClr val="2A3C56"/>
                      </a:solidFill>
                      <a:prstDash val="solid"/>
                      <a:round/>
                      <a:headEnd type="none" w="med" len="med"/>
                      <a:tailEnd type="none" w="med" len="med"/>
                    </a:lnT>
                    <a:lnB w="12700" cap="flat" cmpd="sng" algn="ctr">
                      <a:solidFill>
                        <a:srgbClr val="2A3C56"/>
                      </a:solidFill>
                      <a:prstDash val="solid"/>
                      <a:round/>
                      <a:headEnd type="none" w="med" len="med"/>
                      <a:tailEnd type="none" w="med" len="med"/>
                    </a:lnB>
                  </a:tcPr>
                </a:tc>
              </a:tr>
              <a:tr h="384048">
                <a:tc>
                  <a:txBody>
                    <a:bodyPr/>
                    <a:lstStyle/>
                    <a:p>
                      <a:pPr indent="0" marL="0">
                        <a:buNone/>
                      </a:pPr>
                      <a:r>
                        <a:rPr lang="en-US" sz="1300" b="1" dirty="0">
                          <a:solidFill>
                            <a:srgbClr val="FFFFFF"/>
                          </a:solidFill>
                        </a:rPr>
                        <a:t>Chaitanya Shekhawat</a:t>
                      </a:r>
                      <a:endParaRPr lang="en-US" sz="1300" dirty="0"/>
                    </a:p>
                  </a:txBody>
                  <a:tcPr marL="73152" marR="73152" marT="73152" marB="73152">
                    <a:lnL w="12700" cap="flat" cmpd="sng" algn="ctr">
                      <a:solidFill>
                        <a:srgbClr val="2A3C56"/>
                      </a:solidFill>
                      <a:prstDash val="solid"/>
                      <a:round/>
                      <a:headEnd type="none" w="med" len="med"/>
                      <a:tailEnd type="none" w="med" len="med"/>
                    </a:lnL>
                    <a:lnR w="12700" cap="flat" cmpd="sng" algn="ctr">
                      <a:solidFill>
                        <a:srgbClr val="2A3C56"/>
                      </a:solidFill>
                      <a:prstDash val="solid"/>
                      <a:round/>
                      <a:headEnd type="none" w="med" len="med"/>
                      <a:tailEnd type="none" w="med" len="med"/>
                    </a:lnR>
                    <a:lnT w="12700" cap="flat" cmpd="sng" algn="ctr">
                      <a:solidFill>
                        <a:srgbClr val="2A3C56"/>
                      </a:solidFill>
                      <a:prstDash val="solid"/>
                      <a:round/>
                      <a:headEnd type="none" w="med" len="med"/>
                      <a:tailEnd type="none" w="med" len="med"/>
                    </a:lnT>
                    <a:lnB w="12700" cap="flat" cmpd="sng" algn="ctr">
                      <a:solidFill>
                        <a:srgbClr val="2A3C56"/>
                      </a:solidFill>
                      <a:prstDash val="solid"/>
                      <a:round/>
                      <a:headEnd type="none" w="med" len="med"/>
                      <a:tailEnd type="none" w="med" len="med"/>
                    </a:lnB>
                  </a:tcPr>
                </a:tc>
                <a:tc>
                  <a:txBody>
                    <a:bodyPr/>
                    <a:lstStyle/>
                    <a:p>
                      <a:pPr indent="0" marL="0">
                        <a:buNone/>
                      </a:pPr>
                      <a:r>
                        <a:rPr lang="en-US" sz="1200" dirty="0">
                          <a:solidFill>
                            <a:srgbClr val="BFD4DE"/>
                          </a:solidFill>
                        </a:rPr>
                        <a:t>Evaluation — automatic listening test, results</a:t>
                      </a:r>
                      <a:endParaRPr lang="en-US" sz="1200" dirty="0"/>
                    </a:p>
                  </a:txBody>
                  <a:tcPr marL="73152" marR="73152" marT="73152" marB="73152">
                    <a:lnL w="12700" cap="flat" cmpd="sng" algn="ctr">
                      <a:solidFill>
                        <a:srgbClr val="2A3C56"/>
                      </a:solidFill>
                      <a:prstDash val="solid"/>
                      <a:round/>
                      <a:headEnd type="none" w="med" len="med"/>
                      <a:tailEnd type="none" w="med" len="med"/>
                    </a:lnL>
                    <a:lnR w="12700" cap="flat" cmpd="sng" algn="ctr">
                      <a:solidFill>
                        <a:srgbClr val="2A3C56"/>
                      </a:solidFill>
                      <a:prstDash val="solid"/>
                      <a:round/>
                      <a:headEnd type="none" w="med" len="med"/>
                      <a:tailEnd type="none" w="med" len="med"/>
                    </a:lnR>
                    <a:lnT w="12700" cap="flat" cmpd="sng" algn="ctr">
                      <a:solidFill>
                        <a:srgbClr val="2A3C56"/>
                      </a:solidFill>
                      <a:prstDash val="solid"/>
                      <a:round/>
                      <a:headEnd type="none" w="med" len="med"/>
                      <a:tailEnd type="none" w="med" len="med"/>
                    </a:lnT>
                    <a:lnB w="12700" cap="flat" cmpd="sng" algn="ctr">
                      <a:solidFill>
                        <a:srgbClr val="2A3C56"/>
                      </a:solidFill>
                      <a:prstDash val="solid"/>
                      <a:round/>
                      <a:headEnd type="none" w="med" len="med"/>
                      <a:tailEnd type="none" w="med" len="med"/>
                    </a:lnB>
                  </a:tcPr>
                </a:tc>
              </a:tr>
            </a:tbl>
          </a:graphicData>
        </a:graphic>
      </p:graphicFrame>
      <p:sp>
        <p:nvSpPr>
          <p:cNvPr id="5" name="Text 2"/>
          <p:cNvSpPr txBox="1"/>
          <p:nvPr/>
        </p:nvSpPr>
        <p:spPr>
          <a:xfrm>
            <a:off x="731520" y="5943600"/>
            <a:ext cx="10698480" cy="365760"/>
          </a:xfrm>
          <a:prstGeom prst="rect">
            <a:avLst/>
          </a:prstGeom>
          <a:noFill/>
          <a:ln/>
        </p:spPr>
        <p:txBody>
          <a:bodyPr wrap="square" lIns="0" tIns="0" rIns="0" bIns="0" rtlCol="0" anchor="ctr"/>
          <a:lstStyle/>
          <a:p>
            <a:pPr indent="0" marL="0">
              <a:buNone/>
            </a:pPr>
            <a:r>
              <a:rPr lang="en-US" sz="1100" dirty="0">
                <a:solidFill>
                  <a:srgbClr val="7FB5C9"/>
                </a:solidFill>
              </a:rPr>
              <a:t>Advanced Machine Learning  ·  LJSpeech 1.1 (13,100 clips, 23.9 h, one speaker)  ·  Built on FastSpeech 2 (ICLR 2021)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13232"/>
          </a:xfrm>
          <a:prstGeom prst="rect">
            <a:avLst/>
          </a:prstGeom>
          <a:noFill/>
          <a:ln/>
        </p:spPr>
        <p:txBody>
          <a:bodyPr wrap="square" rtlCol="0"/>
          <a:lstStyle/>
          <a:p>
            <a:pPr algn="l" indent="0" marL="0">
              <a:buNone/>
            </a:pPr>
            <a:r>
              <a:rPr lang="en-US" sz="3600" b="1" dirty="0">
                <a:solidFill>
                  <a:schemeClr val="accent3"/>
                </a:solidFill>
              </a:rPr>
              <a:t>Speech synthesis has to get two separate things right</a:t>
            </a:r>
            <a:endParaRPr lang="en-US" sz="3600" dirty="0"/>
          </a:p>
        </p:txBody>
      </p:sp>
      <p:sp>
        <p:nvSpPr>
          <p:cNvPr id="3" name="cardTiming"/>
          <p:cNvSpPr/>
          <p:nvPr/>
        </p:nvSpPr>
        <p:spPr>
          <a:xfrm>
            <a:off x="640080" y="1463040"/>
            <a:ext cx="5212080" cy="1828800"/>
          </a:xfrm>
          <a:prstGeom prst="roundRect">
            <a:avLst>
              <a:gd name="adj" fmla="val 3000"/>
            </a:avLst>
          </a:prstGeom>
          <a:solidFill>
            <a:schemeClr val="bg2"/>
          </a:solidFill>
          <a:ln w="12700">
            <a:solidFill>
              <a:srgbClr val="D7E3EA"/>
            </a:solidFill>
            <a:prstDash val="solid"/>
          </a:ln>
          <a:effectLst>
            <a:outerShdw sx="100000" sy="100000" kx="0" ky="0" algn="bl" rotWithShape="0" blurRad="101600" dist="25400" dir="5400000">
              <a:srgbClr val="9AB2BF">
                <a:alpha val="25000"/>
              </a:srgbClr>
            </a:outerShdw>
          </a:effectLst>
        </p:spPr>
      </p:sp>
      <p:sp>
        <p:nvSpPr>
          <p:cNvPr id="4" name="dot1"/>
          <p:cNvSpPr/>
          <p:nvPr/>
        </p:nvSpPr>
        <p:spPr>
          <a:xfrm>
            <a:off x="914400" y="1737360"/>
            <a:ext cx="457200" cy="457200"/>
          </a:xfrm>
          <a:prstGeom prst="ellipse">
            <a:avLst/>
          </a:prstGeom>
          <a:solidFill>
            <a:schemeClr val="accent1"/>
          </a:solidFill>
          <a:ln/>
        </p:spPr>
      </p:sp>
      <p:sp>
        <p:nvSpPr>
          <p:cNvPr id="5" name="Text 3"/>
          <p:cNvSpPr txBox="1"/>
          <p:nvPr/>
        </p:nvSpPr>
        <p:spPr>
          <a:xfrm>
            <a:off x="914400"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6" name="Text 4"/>
          <p:cNvSpPr txBox="1"/>
          <p:nvPr/>
        </p:nvSpPr>
        <p:spPr>
          <a:xfrm>
            <a:off x="1508760" y="1755648"/>
            <a:ext cx="4114800" cy="411480"/>
          </a:xfrm>
          <a:prstGeom prst="rect">
            <a:avLst/>
          </a:prstGeom>
          <a:noFill/>
          <a:ln/>
        </p:spPr>
        <p:txBody>
          <a:bodyPr wrap="square" lIns="0" tIns="0" rIns="0" bIns="0" rtlCol="0" anchor="ctr"/>
          <a:lstStyle/>
          <a:p>
            <a:pPr indent="0" marL="0">
              <a:buNone/>
            </a:pPr>
            <a:r>
              <a:rPr lang="en-US" sz="1500" b="1" dirty="0">
                <a:solidFill>
                  <a:schemeClr val="accent3"/>
                </a:solidFill>
              </a:rPr>
              <a:t>TIMING — how long does each sound last?</a:t>
            </a:r>
            <a:endParaRPr lang="en-US" sz="1500" dirty="0"/>
          </a:p>
        </p:txBody>
      </p:sp>
      <p:sp>
        <p:nvSpPr>
          <p:cNvPr id="7" name="Text 5"/>
          <p:cNvSpPr txBox="1"/>
          <p:nvPr/>
        </p:nvSpPr>
        <p:spPr>
          <a:xfrm>
            <a:off x="914400" y="2331720"/>
            <a:ext cx="4663440" cy="822960"/>
          </a:xfrm>
          <a:prstGeom prst="rect">
            <a:avLst/>
          </a:prstGeom>
          <a:noFill/>
          <a:ln/>
        </p:spPr>
        <p:txBody>
          <a:bodyPr wrap="square" lIns="0" tIns="0" rIns="0" bIns="0" rtlCol="0" anchor="ctr"/>
          <a:lstStyle/>
          <a:p>
            <a:pPr indent="0" marL="0">
              <a:buNone/>
            </a:pPr>
            <a:r>
              <a:rPr lang="en-US" sz="1300" dirty="0">
                <a:solidFill>
                  <a:schemeClr val="tx2"/>
                </a:solidFill>
              </a:rPr>
              <a:t>In "cat", the sounds K · AE · T are not equal. The vowel is longer. The same sound stretches at the end of a sentence and shortens in a fast phrase.</a:t>
            </a:r>
            <a:endParaRPr lang="en-US" sz="1300" dirty="0"/>
          </a:p>
        </p:txBody>
      </p:sp>
      <p:sp>
        <p:nvSpPr>
          <p:cNvPr id="8" name="cardSound"/>
          <p:cNvSpPr/>
          <p:nvPr/>
        </p:nvSpPr>
        <p:spPr>
          <a:xfrm>
            <a:off x="6309360" y="1463040"/>
            <a:ext cx="5212080" cy="1828800"/>
          </a:xfrm>
          <a:prstGeom prst="roundRect">
            <a:avLst>
              <a:gd name="adj" fmla="val 3000"/>
            </a:avLst>
          </a:prstGeom>
          <a:solidFill>
            <a:schemeClr val="bg2"/>
          </a:solidFill>
          <a:ln w="12700">
            <a:solidFill>
              <a:srgbClr val="D7E3EA"/>
            </a:solidFill>
            <a:prstDash val="solid"/>
          </a:ln>
          <a:effectLst>
            <a:outerShdw sx="100000" sy="100000" kx="0" ky="0" algn="bl" rotWithShape="0" blurRad="101600" dist="25400" dir="5400000">
              <a:srgbClr val="9AB2BF">
                <a:alpha val="25000"/>
              </a:srgbClr>
            </a:outerShdw>
          </a:effectLst>
        </p:spPr>
      </p:sp>
      <p:sp>
        <p:nvSpPr>
          <p:cNvPr id="9" name="dot2"/>
          <p:cNvSpPr/>
          <p:nvPr/>
        </p:nvSpPr>
        <p:spPr>
          <a:xfrm>
            <a:off x="6583680" y="1737360"/>
            <a:ext cx="457200" cy="457200"/>
          </a:xfrm>
          <a:prstGeom prst="ellipse">
            <a:avLst/>
          </a:prstGeom>
          <a:solidFill>
            <a:schemeClr val="accent2"/>
          </a:solidFill>
          <a:ln/>
        </p:spPr>
      </p:sp>
      <p:sp>
        <p:nvSpPr>
          <p:cNvPr id="10" name="Text 8"/>
          <p:cNvSpPr txBox="1"/>
          <p:nvPr/>
        </p:nvSpPr>
        <p:spPr>
          <a:xfrm>
            <a:off x="6583680" y="17373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Text 9"/>
          <p:cNvSpPr txBox="1"/>
          <p:nvPr/>
        </p:nvSpPr>
        <p:spPr>
          <a:xfrm>
            <a:off x="7178040" y="1755648"/>
            <a:ext cx="4114800" cy="411480"/>
          </a:xfrm>
          <a:prstGeom prst="rect">
            <a:avLst/>
          </a:prstGeom>
          <a:noFill/>
          <a:ln/>
        </p:spPr>
        <p:txBody>
          <a:bodyPr wrap="square" lIns="0" tIns="0" rIns="0" bIns="0" rtlCol="0" anchor="ctr"/>
          <a:lstStyle/>
          <a:p>
            <a:pPr indent="0" marL="0">
              <a:buNone/>
            </a:pPr>
            <a:r>
              <a:rPr lang="en-US" sz="1500" b="1" dirty="0">
                <a:solidFill>
                  <a:schemeClr val="accent3"/>
                </a:solidFill>
              </a:rPr>
              <a:t>SOUND — what does each sound sound like?</a:t>
            </a:r>
            <a:endParaRPr lang="en-US" sz="1500" dirty="0"/>
          </a:p>
        </p:txBody>
      </p:sp>
      <p:sp>
        <p:nvSpPr>
          <p:cNvPr id="12" name="Text 10"/>
          <p:cNvSpPr txBox="1"/>
          <p:nvPr/>
        </p:nvSpPr>
        <p:spPr>
          <a:xfrm>
            <a:off x="6583680" y="2331720"/>
            <a:ext cx="4663440" cy="822960"/>
          </a:xfrm>
          <a:prstGeom prst="rect">
            <a:avLst/>
          </a:prstGeom>
          <a:noFill/>
          <a:ln/>
        </p:spPr>
        <p:txBody>
          <a:bodyPr wrap="square" lIns="0" tIns="0" rIns="0" bIns="0" rtlCol="0" anchor="ctr"/>
          <a:lstStyle/>
          <a:p>
            <a:pPr indent="0" marL="0">
              <a:buNone/>
            </a:pPr>
            <a:r>
              <a:rPr lang="en-US" sz="1300" dirty="0">
                <a:solidFill>
                  <a:schemeClr val="tx2"/>
                </a:solidFill>
              </a:rPr>
              <a:t>The hiss of S, the ring of AE. The frequency content that makes each phone recognisable.</a:t>
            </a:r>
            <a:endParaRPr lang="en-US" sz="1300" dirty="0"/>
          </a:p>
        </p:txBody>
      </p:sp>
      <p:sp>
        <p:nvSpPr>
          <p:cNvPr id="13" name="Text 11"/>
          <p:cNvSpPr txBox="1"/>
          <p:nvPr/>
        </p:nvSpPr>
        <p:spPr>
          <a:xfrm>
            <a:off x="640080" y="3520440"/>
            <a:ext cx="10881360" cy="548640"/>
          </a:xfrm>
          <a:prstGeom prst="rect">
            <a:avLst/>
          </a:prstGeom>
          <a:noFill/>
          <a:ln/>
        </p:spPr>
        <p:txBody>
          <a:bodyPr wrap="square" lIns="0" tIns="0" rIns="0" bIns="0" rtlCol="0" anchor="ctr"/>
          <a:lstStyle/>
          <a:p>
            <a:pPr indent="0" marL="0">
              <a:buNone/>
            </a:pPr>
            <a:r>
              <a:rPr lang="en-US" sz="1500" b="1" dirty="0">
                <a:solidFill>
                  <a:schemeClr val="accent6"/>
                </a:solidFill>
              </a:rPr>
              <a:t>The problem: modern systems learn both at the same time, inside one neural network. So when the output sounds wrong, you cannot tell which half is to blame.</a:t>
            </a:r>
            <a:endParaRPr lang="en-US" sz="1500" dirty="0"/>
          </a:p>
        </p:txBody>
      </p:sp>
      <p:sp>
        <p:nvSpPr>
          <p:cNvPr id="14" name="questionBox"/>
          <p:cNvSpPr/>
          <p:nvPr/>
        </p:nvSpPr>
        <p:spPr>
          <a:xfrm>
            <a:off x="640080" y="4251960"/>
            <a:ext cx="10881360" cy="1828800"/>
          </a:xfrm>
          <a:prstGeom prst="roundRect">
            <a:avLst>
              <a:gd name="adj" fmla="val 2500"/>
            </a:avLst>
          </a:prstGeom>
          <a:solidFill>
            <a:schemeClr val="accent3"/>
          </a:solidFill>
          <a:ln/>
        </p:spPr>
      </p:sp>
      <p:sp>
        <p:nvSpPr>
          <p:cNvPr id="15" name="Text 13"/>
          <p:cNvSpPr txBox="1"/>
          <p:nvPr/>
        </p:nvSpPr>
        <p:spPr>
          <a:xfrm>
            <a:off x="1005840" y="4434840"/>
            <a:ext cx="4572000" cy="365760"/>
          </a:xfrm>
          <a:prstGeom prst="rect">
            <a:avLst/>
          </a:prstGeom>
          <a:noFill/>
          <a:ln/>
        </p:spPr>
        <p:txBody>
          <a:bodyPr wrap="square" lIns="0" tIns="0" rIns="0" bIns="0" rtlCol="0" anchor="ctr"/>
          <a:lstStyle/>
          <a:p>
            <a:pPr indent="0" marL="0">
              <a:buNone/>
            </a:pPr>
            <a:r>
              <a:rPr lang="en-US" sz="1300" b="1" dirty="0">
                <a:solidFill>
                  <a:schemeClr val="accent2"/>
                </a:solidFill>
              </a:rPr>
              <a:t>Our question</a:t>
            </a:r>
            <a:endParaRPr lang="en-US" sz="1300" dirty="0"/>
          </a:p>
        </p:txBody>
      </p:sp>
      <p:sp>
        <p:nvSpPr>
          <p:cNvPr id="16" name="Text 14"/>
          <p:cNvSpPr txBox="1"/>
          <p:nvPr/>
        </p:nvSpPr>
        <p:spPr>
          <a:xfrm>
            <a:off x="1005840" y="4754880"/>
            <a:ext cx="10149840" cy="548640"/>
          </a:xfrm>
          <a:prstGeom prst="rect">
            <a:avLst/>
          </a:prstGeom>
          <a:noFill/>
          <a:ln/>
        </p:spPr>
        <p:txBody>
          <a:bodyPr wrap="square" lIns="0" tIns="0" rIns="0" bIns="0" rtlCol="0" anchor="ctr"/>
          <a:lstStyle/>
          <a:p>
            <a:pPr indent="0" marL="0">
              <a:buNone/>
            </a:pPr>
            <a:r>
              <a:rPr lang="en-US" sz="1900" b="1" i="1" dirty="0">
                <a:solidFill>
                  <a:srgbClr val="FFFFFF"/>
                </a:solidFill>
              </a:rPr>
              <a:t>If we keep the “sound” half completely fixed and change only where the timing comes from, how much worse does the speech get?</a:t>
            </a:r>
            <a:endParaRPr lang="en-US" sz="1900" dirty="0"/>
          </a:p>
        </p:txBody>
      </p:sp>
      <p:sp>
        <p:nvSpPr>
          <p:cNvPr id="17" name="Text 15"/>
          <p:cNvSpPr txBox="1"/>
          <p:nvPr/>
        </p:nvSpPr>
        <p:spPr>
          <a:xfrm>
            <a:off x="1005840" y="5440680"/>
            <a:ext cx="10149840" cy="457200"/>
          </a:xfrm>
          <a:prstGeom prst="rect">
            <a:avLst/>
          </a:prstGeom>
          <a:noFill/>
          <a:ln/>
        </p:spPr>
        <p:txBody>
          <a:bodyPr wrap="square" lIns="0" tIns="0" rIns="0" bIns="0" rtlCol="0" anchor="ctr"/>
          <a:lstStyle/>
          <a:p>
            <a:pPr indent="0" marL="0">
              <a:buNone/>
            </a:pPr>
            <a:r>
              <a:rPr lang="en-US" sz="1400" b="1" dirty="0">
                <a:solidFill>
                  <a:schemeClr val="accent2"/>
                </a:solidFill>
              </a:rPr>
              <a:t>A1</a:t>
            </a:r>
            <a:pPr indent="0" marL="0">
              <a:buNone/>
            </a:pPr>
            <a:r>
              <a:rPr lang="en-US" sz="1400" dirty="0">
                <a:solidFill>
                  <a:srgbClr val="D8E7EE"/>
                </a:solidFill>
              </a:rPr>
              <a:t> = rebuild using the real, measured durations        </a:t>
            </a:r>
            <a:pPr indent="0" marL="0">
              <a:buNone/>
            </a:pPr>
            <a:r>
              <a:rPr lang="en-US" sz="1400" b="1" dirty="0">
                <a:solidFill>
                  <a:schemeClr val="accent2"/>
                </a:solidFill>
              </a:rPr>
              <a:t>A2</a:t>
            </a:r>
            <a:pPr indent="0" marL="0">
              <a:buNone/>
            </a:pPr>
            <a:r>
              <a:rPr lang="en-US" sz="1400" dirty="0">
                <a:solidFill>
                  <a:srgbClr val="D8E7EE"/>
                </a:solidFill>
              </a:rPr>
              <a:t> = rebuild using durations predicted by our model</a:t>
            </a:r>
            <a:endParaRPr lang="en-US" sz="14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B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13232"/>
          </a:xfrm>
          <a:prstGeom prst="rect">
            <a:avLst/>
          </a:prstGeom>
          <a:noFill/>
          <a:ln/>
        </p:spPr>
        <p:txBody>
          <a:bodyPr wrap="square" rtlCol="0"/>
          <a:lstStyle/>
          <a:p>
            <a:pPr algn="l" indent="0" marL="0">
              <a:buNone/>
            </a:pPr>
            <a:r>
              <a:rPr lang="en-US" sz="3600" b="1" dirty="0">
                <a:solidFill>
                  <a:schemeClr val="accent3"/>
                </a:solidFill>
              </a:rPr>
              <a:t>What we actually did</a:t>
            </a:r>
            <a:endParaRPr lang="en-US" sz="3600" dirty="0"/>
          </a:p>
        </p:txBody>
      </p:sp>
      <p:sp>
        <p:nvSpPr>
          <p:cNvPr id="3" name="Text 1"/>
          <p:cNvSpPr txBox="1"/>
          <p:nvPr/>
        </p:nvSpPr>
        <p:spPr>
          <a:xfrm>
            <a:off x="640080" y="1234440"/>
            <a:ext cx="5486400" cy="320040"/>
          </a:xfrm>
          <a:prstGeom prst="rect">
            <a:avLst/>
          </a:prstGeom>
          <a:noFill/>
          <a:ln/>
        </p:spPr>
        <p:txBody>
          <a:bodyPr wrap="square" lIns="0" tIns="0" rIns="0" bIns="0" rtlCol="0" anchor="ctr"/>
          <a:lstStyle/>
          <a:p>
            <a:pPr indent="0" marL="0">
              <a:buNone/>
            </a:pPr>
            <a:r>
              <a:rPr lang="en-US" sz="1500" b="1" dirty="0">
                <a:solidFill>
                  <a:schemeClr val="accent1"/>
                </a:solidFill>
              </a:rPr>
              <a:t>Five steps</a:t>
            </a:r>
            <a:endParaRPr lang="en-US" sz="1500" dirty="0"/>
          </a:p>
        </p:txBody>
      </p:sp>
      <p:graphicFrame>
        <p:nvGraphicFramePr>
          <p:cNvPr id="4" name="stepsTable"/>
          <p:cNvGraphicFramePr>
            <a:graphicFrameLocks noGrp="1"/>
          </p:cNvGraphicFramePr>
          <p:nvPr>
            <p:extLst>
              <p:ext uri="{D42A27DB-BD31-4B8C-83A1-F6EECF244321}">
                <p14:modId xmlns:p14="http://schemas.microsoft.com/office/powerpoint/2010/main" val="1579011935"/>
              </p:ext>
            </p:extLst>
          </p:nvPr>
        </p:nvGraphicFramePr>
        <p:xfrm>
          <a:off x="640080" y="1600200"/>
          <a:ext cx="6675120" cy="914400"/>
        </p:xfrm>
        <a:graphic>
          <a:graphicData uri="http://schemas.openxmlformats.org/drawingml/2006/table">
            <a:tbl>
              <a:tblPr/>
              <a:tblGrid>
                <a:gridCol w="1737360"/>
                <a:gridCol w="2834640"/>
                <a:gridCol w="2103120"/>
              </a:tblGrid>
              <a:tr h="310896">
                <a:tc>
                  <a:txBody>
                    <a:bodyPr/>
                    <a:lstStyle/>
                    <a:p>
                      <a:pPr indent="0" marL="0">
                        <a:buNone/>
                      </a:pPr>
                      <a:r>
                        <a:rPr lang="en-US" sz="1100" b="1" dirty="0">
                          <a:solidFill>
                            <a:srgbClr val="FFFFFF"/>
                          </a:solidFill>
                        </a:rPr>
                        <a:t>Step</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rPr>
                        <a:t>What happens</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rPr>
                        <a:t>Output</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065A82"/>
                    </a:solidFill>
                  </a:tcPr>
                </a:tc>
              </a:tr>
              <a:tr h="310896">
                <a:tc>
                  <a:txBody>
                    <a:bodyPr/>
                    <a:lstStyle/>
                    <a:p>
                      <a:pPr indent="0" marL="0">
                        <a:buNone/>
                      </a:pPr>
                      <a:r>
                        <a:rPr lang="en-US" sz="1100" b="1" dirty="0">
                          <a:solidFill>
                            <a:srgbClr val="065A82"/>
                          </a:solidFill>
                        </a:rPr>
                        <a:t>1  Clean the text</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dirty="0">
                          <a:solidFill>
                            <a:srgbClr val="3A4A58"/>
                          </a:solidFill>
                        </a:rPr>
                        <a:t>spell out numbers, strip punctuation</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dirty="0">
                          <a:solidFill>
                            <a:srgbClr val="3A4A58"/>
                          </a:solidFill>
                        </a:rPr>
                        <a:t>0 digits left in 13,100 clips</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r>
              <a:tr h="310896">
                <a:tc>
                  <a:txBody>
                    <a:bodyPr/>
                    <a:lstStyle/>
                    <a:p>
                      <a:pPr indent="0" marL="0">
                        <a:buNone/>
                      </a:pPr>
                      <a:r>
                        <a:rPr lang="en-US" sz="1100" b="1" dirty="0">
                          <a:solidFill>
                            <a:srgbClr val="065A82"/>
                          </a:solidFill>
                        </a:rPr>
                        <a:t>2  Align</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dirty="0">
                          <a:solidFill>
                            <a:srgbClr val="3A4A58"/>
                          </a:solidFill>
                        </a:rPr>
                        <a:t>find where every sound starts and ends</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dirty="0">
                          <a:solidFill>
                            <a:srgbClr val="3A4A58"/>
                          </a:solidFill>
                        </a:rPr>
                        <a:t>949,856 phones, 70 types</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r>
              <a:tr h="310896">
                <a:tc>
                  <a:txBody>
                    <a:bodyPr/>
                    <a:lstStyle/>
                    <a:p>
                      <a:pPr indent="0" marL="0">
                        <a:buNone/>
                      </a:pPr>
                      <a:r>
                        <a:rPr lang="en-US" sz="1100" b="1" dirty="0">
                          <a:solidFill>
                            <a:srgbClr val="065A82"/>
                          </a:solidFill>
                        </a:rPr>
                        <a:t>3  Spectrograms</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dirty="0">
                          <a:solidFill>
                            <a:srgbClr val="3A4A58"/>
                          </a:solidFill>
                        </a:rPr>
                        <a:t>turn audio into 80-band pictures</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dirty="0">
                          <a:solidFill>
                            <a:srgbClr val="3A4A58"/>
                          </a:solidFill>
                        </a:rPr>
                        <a:t>1 frame = 11.61 ms</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r>
              <a:tr h="310896">
                <a:tc>
                  <a:txBody>
                    <a:bodyPr/>
                    <a:lstStyle/>
                    <a:p>
                      <a:pPr indent="0" marL="0">
                        <a:buNone/>
                      </a:pPr>
                      <a:r>
                        <a:rPr lang="en-US" sz="1100" b="1" dirty="0">
                          <a:solidFill>
                            <a:srgbClr val="065A82"/>
                          </a:solidFill>
                        </a:rPr>
                        <a:t>4  Predict durations</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dirty="0">
                          <a:solidFill>
                            <a:srgbClr val="3A4A58"/>
                          </a:solidFill>
                        </a:rPr>
                        <a:t>the machine-learning part</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dirty="0">
                          <a:solidFill>
                            <a:srgbClr val="3A4A58"/>
                          </a:solidFill>
                        </a:rPr>
                        <a:t>905,833 training examples</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r>
              <a:tr h="310896">
                <a:tc>
                  <a:txBody>
                    <a:bodyPr/>
                    <a:lstStyle/>
                    <a:p>
                      <a:pPr indent="0" marL="0">
                        <a:buNone/>
                      </a:pPr>
                      <a:r>
                        <a:rPr lang="en-US" sz="1100" b="1" dirty="0">
                          <a:solidFill>
                            <a:srgbClr val="065A82"/>
                          </a:solidFill>
                        </a:rPr>
                        <a:t>5  Rebuild audio</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dirty="0">
                          <a:solidFill>
                            <a:srgbClr val="3A4A58"/>
                          </a:solidFill>
                        </a:rPr>
                        <a:t>average sound per phone + vocoder</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dirty="0">
                          <a:solidFill>
                            <a:srgbClr val="3A4A58"/>
                          </a:solidFill>
                        </a:rPr>
                        <a:t>100 clips x 3 systems</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r>
            </a:tbl>
          </a:graphicData>
        </a:graphic>
      </p:graphicFrame>
      <p:sp>
        <p:nvSpPr>
          <p:cNvPr id="5" name="Text 2"/>
          <p:cNvSpPr txBox="1"/>
          <p:nvPr/>
        </p:nvSpPr>
        <p:spPr>
          <a:xfrm>
            <a:off x="640080" y="3931920"/>
            <a:ext cx="6675120" cy="320040"/>
          </a:xfrm>
          <a:prstGeom prst="rect">
            <a:avLst/>
          </a:prstGeom>
          <a:noFill/>
          <a:ln/>
        </p:spPr>
        <p:txBody>
          <a:bodyPr wrap="square" lIns="0" tIns="0" rIns="0" bIns="0" rtlCol="0" anchor="ctr"/>
          <a:lstStyle/>
          <a:p>
            <a:pPr indent="0" marL="0">
              <a:buNone/>
            </a:pPr>
            <a:r>
              <a:rPr lang="en-US" sz="1500" b="1" dirty="0">
                <a:solidFill>
                  <a:schemeClr val="accent1"/>
                </a:solidFill>
              </a:rPr>
              <a:t>Is the alignment trustworthy? We checked with a control</a:t>
            </a:r>
            <a:endParaRPr lang="en-US" sz="1500" dirty="0"/>
          </a:p>
        </p:txBody>
      </p:sp>
      <p:sp>
        <p:nvSpPr>
          <p:cNvPr id="6" name="Text 3"/>
          <p:cNvSpPr txBox="1"/>
          <p:nvPr/>
        </p:nvSpPr>
        <p:spPr>
          <a:xfrm>
            <a:off x="640080" y="4297680"/>
            <a:ext cx="6675120" cy="502920"/>
          </a:xfrm>
          <a:prstGeom prst="rect">
            <a:avLst/>
          </a:prstGeom>
          <a:noFill/>
          <a:ln/>
        </p:spPr>
        <p:txBody>
          <a:bodyPr wrap="square" lIns="0" tIns="0" rIns="0" bIns="0" rtlCol="0" anchor="ctr"/>
          <a:lstStyle/>
          <a:p>
            <a:pPr indent="0" marL="0">
              <a:buNone/>
            </a:pPr>
            <a:r>
              <a:rPr lang="en-US" sz="3000" b="1" dirty="0">
                <a:solidFill>
                  <a:srgbClr val="02C39A"/>
                </a:solidFill>
              </a:rPr>
              <a:t>94.6%</a:t>
            </a:r>
            <a:pPr indent="0" marL="0">
              <a:buNone/>
            </a:pPr>
            <a:r>
              <a:rPr lang="en-US" sz="1300" dirty="0">
                <a:solidFill>
                  <a:srgbClr val="3A4A58"/>
                </a:solidFill>
              </a:rPr>
              <a:t>  of sound boundaries land where the loudness changes</a:t>
            </a:r>
            <a:endParaRPr lang="en-US" sz="3000" dirty="0"/>
          </a:p>
        </p:txBody>
      </p:sp>
      <p:sp>
        <p:nvSpPr>
          <p:cNvPr id="7" name="Text 4"/>
          <p:cNvSpPr txBox="1"/>
          <p:nvPr/>
        </p:nvSpPr>
        <p:spPr>
          <a:xfrm>
            <a:off x="640080" y="4846320"/>
            <a:ext cx="6675120" cy="502920"/>
          </a:xfrm>
          <a:prstGeom prst="rect">
            <a:avLst/>
          </a:prstGeom>
          <a:noFill/>
          <a:ln/>
        </p:spPr>
        <p:txBody>
          <a:bodyPr wrap="square" lIns="0" tIns="0" rIns="0" bIns="0" rtlCol="0" anchor="ctr"/>
          <a:lstStyle/>
          <a:p>
            <a:pPr indent="0" marL="0">
              <a:buNone/>
            </a:pPr>
            <a:r>
              <a:rPr lang="en-US" sz="3000" b="1" dirty="0">
                <a:solidFill>
                  <a:srgbClr val="B85042"/>
                </a:solidFill>
              </a:rPr>
              <a:t>53.7%</a:t>
            </a:r>
            <a:pPr indent="0" marL="0">
              <a:buNone/>
            </a:pPr>
            <a:r>
              <a:rPr lang="en-US" sz="1300" dirty="0">
                <a:solidFill>
                  <a:srgbClr val="3A4A58"/>
                </a:solidFill>
              </a:rPr>
              <a:t>  same test, boundaries shifted on purpose (the control)</a:t>
            </a:r>
            <a:endParaRPr lang="en-US" sz="3000" dirty="0"/>
          </a:p>
        </p:txBody>
      </p:sp>
      <p:sp>
        <p:nvSpPr>
          <p:cNvPr id="8" name="Text 5"/>
          <p:cNvSpPr txBox="1"/>
          <p:nvPr/>
        </p:nvSpPr>
        <p:spPr>
          <a:xfrm>
            <a:off x="640080" y="5440680"/>
            <a:ext cx="6675120" cy="640080"/>
          </a:xfrm>
          <a:prstGeom prst="rect">
            <a:avLst/>
          </a:prstGeom>
          <a:noFill/>
          <a:ln/>
        </p:spPr>
        <p:txBody>
          <a:bodyPr wrap="square" lIns="0" tIns="0" rIns="0" bIns="0" rtlCol="0" anchor="ctr"/>
          <a:lstStyle/>
          <a:p>
            <a:pPr indent="0" marL="0">
              <a:buNone/>
            </a:pPr>
            <a:r>
              <a:rPr lang="en-US" sz="1100" i="1" dirty="0">
                <a:solidFill>
                  <a:srgbClr val="6B7A88"/>
                </a:solidFill>
              </a:rPr>
              <a:t>53.7% is what a broken aligner would score. 94.6% against that control is why everything downstream rests on something real.</a:t>
            </a:r>
            <a:endParaRPr lang="en-US" sz="1100" dirty="0"/>
          </a:p>
        </p:txBody>
      </p:sp>
      <p:sp>
        <p:nvSpPr>
          <p:cNvPr id="9" name="mlCard"/>
          <p:cNvSpPr/>
          <p:nvPr/>
        </p:nvSpPr>
        <p:spPr>
          <a:xfrm>
            <a:off x="7680960" y="1600200"/>
            <a:ext cx="3840480" cy="4434840"/>
          </a:xfrm>
          <a:prstGeom prst="roundRect">
            <a:avLst>
              <a:gd name="adj" fmla="val 1429"/>
            </a:avLst>
          </a:prstGeom>
          <a:solidFill>
            <a:schemeClr val="bg2"/>
          </a:solidFill>
          <a:ln w="12700">
            <a:solidFill>
              <a:srgbClr val="D7E3EA"/>
            </a:solidFill>
            <a:prstDash val="solid"/>
          </a:ln>
          <a:effectLst>
            <a:outerShdw sx="100000" sy="100000" kx="0" ky="0" algn="bl" rotWithShape="0" blurRad="101600" dist="25400" dir="5400000">
              <a:srgbClr val="9AB2BF">
                <a:alpha val="25000"/>
              </a:srgbClr>
            </a:outerShdw>
          </a:effectLst>
        </p:spPr>
      </p:sp>
      <p:sp>
        <p:nvSpPr>
          <p:cNvPr id="10" name="Text 7"/>
          <p:cNvSpPr txBox="1"/>
          <p:nvPr/>
        </p:nvSpPr>
        <p:spPr>
          <a:xfrm>
            <a:off x="7955280" y="1810512"/>
            <a:ext cx="3291840" cy="365760"/>
          </a:xfrm>
          <a:prstGeom prst="rect">
            <a:avLst/>
          </a:prstGeom>
          <a:noFill/>
          <a:ln/>
        </p:spPr>
        <p:txBody>
          <a:bodyPr wrap="square" lIns="0" tIns="0" rIns="0" bIns="0" rtlCol="0" anchor="ctr"/>
          <a:lstStyle/>
          <a:p>
            <a:pPr indent="0" marL="0">
              <a:buNone/>
            </a:pPr>
            <a:r>
              <a:rPr lang="en-US" sz="1400" b="1" dirty="0">
                <a:solidFill>
                  <a:schemeClr val="accent3"/>
                </a:solidFill>
              </a:rPr>
              <a:t>The machine-learning model</a:t>
            </a:r>
            <a:endParaRPr lang="en-US" sz="1400" dirty="0"/>
          </a:p>
        </p:txBody>
      </p:sp>
      <p:sp>
        <p:nvSpPr>
          <p:cNvPr id="11" name="Text 8"/>
          <p:cNvSpPr txBox="1"/>
          <p:nvPr/>
        </p:nvSpPr>
        <p:spPr>
          <a:xfrm>
            <a:off x="7955280" y="2240280"/>
            <a:ext cx="3291840" cy="3566160"/>
          </a:xfrm>
          <a:prstGeom prst="rect">
            <a:avLst/>
          </a:prstGeom>
          <a:noFill/>
          <a:ln/>
        </p:spPr>
        <p:txBody>
          <a:bodyPr wrap="square" lIns="0" tIns="0" rIns="0" bIns="0" rtlCol="0" anchor="ctr"/>
          <a:lstStyle/>
          <a:p>
            <a:pPr marL="342900" indent="-342900">
              <a:spcAft>
                <a:spcPts val="1000"/>
              </a:spcAft>
              <a:buSzPct val="100000"/>
              <a:buChar char="•"/>
            </a:pPr>
            <a:r>
              <a:rPr lang="en-US" sz="1150" dirty="0">
                <a:solidFill>
                  <a:srgbClr val="3A4A58"/>
                </a:solidFill>
              </a:rPr>
              <a:t>Task: given a phone and its context, predict its length</a:t>
            </a:r>
            <a:endParaRPr lang="en-US" sz="1150" dirty="0"/>
          </a:p>
          <a:p>
            <a:pPr marL="342900" indent="-342900">
              <a:spcAft>
                <a:spcPts val="1000"/>
              </a:spcAft>
              <a:buSzPct val="100000"/>
              <a:buChar char="•"/>
            </a:pPr>
            <a:r>
              <a:rPr lang="en-US" sz="1150" dirty="0">
                <a:solidFill>
                  <a:srgbClr val="3A4A58"/>
                </a:solidFill>
              </a:rPr>
              <a:t>21 features, all from the text — the phone, its neighbours, stress, position in word and sentence, and distance to the nearest pause</a:t>
            </a:r>
            <a:endParaRPr lang="en-US" sz="1150" dirty="0"/>
          </a:p>
          <a:p>
            <a:pPr marL="342900" indent="-342900">
              <a:spcAft>
                <a:spcPts val="1000"/>
              </a:spcAft>
              <a:buSzPct val="100000"/>
              <a:buChar char="•"/>
            </a:pPr>
            <a:r>
              <a:rPr lang="en-US" sz="1150" dirty="0">
                <a:solidFill>
                  <a:srgbClr val="3A4A58"/>
                </a:solidFill>
              </a:rPr>
              <a:t>3 models compared: per-phone average (baseline), ridge regression, gradient-boosted trees</a:t>
            </a:r>
            <a:endParaRPr lang="en-US" sz="1150" dirty="0"/>
          </a:p>
          <a:p>
            <a:pPr marL="342900" indent="-342900">
              <a:spcAft>
                <a:spcPts val="1000"/>
              </a:spcAft>
              <a:buSzPct val="100000"/>
              <a:buChar char="•"/>
            </a:pPr>
            <a:r>
              <a:rPr lang="en-US" sz="1150" dirty="0">
                <a:solidFill>
                  <a:srgbClr val="3A4A58"/>
                </a:solidFill>
              </a:rPr>
              <a:t>Trained on 12,501 clips, tuned on 300, reported on 299 clips from unseen books</a:t>
            </a:r>
            <a:endParaRPr lang="en-US" sz="115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B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13232"/>
          </a:xfrm>
          <a:prstGeom prst="rect">
            <a:avLst/>
          </a:prstGeom>
          <a:noFill/>
          <a:ln/>
        </p:spPr>
        <p:txBody>
          <a:bodyPr wrap="square" rtlCol="0"/>
          <a:lstStyle/>
          <a:p>
            <a:pPr algn="l" indent="0" marL="0">
              <a:buNone/>
            </a:pPr>
            <a:r>
              <a:rPr lang="en-US" sz="3600" b="1" dirty="0">
                <a:solidFill>
                  <a:schemeClr val="accent3"/>
                </a:solidFill>
              </a:rPr>
              <a:t>Results</a:t>
            </a:r>
            <a:endParaRPr lang="en-US" sz="3600" dirty="0"/>
          </a:p>
        </p:txBody>
      </p:sp>
      <p:sp>
        <p:nvSpPr>
          <p:cNvPr id="3" name="Text 1"/>
          <p:cNvSpPr txBox="1"/>
          <p:nvPr/>
        </p:nvSpPr>
        <p:spPr>
          <a:xfrm>
            <a:off x="640080" y="1207008"/>
            <a:ext cx="5394960" cy="320040"/>
          </a:xfrm>
          <a:prstGeom prst="rect">
            <a:avLst/>
          </a:prstGeom>
          <a:noFill/>
          <a:ln/>
        </p:spPr>
        <p:txBody>
          <a:bodyPr wrap="square" lIns="0" tIns="0" rIns="0" bIns="0" rtlCol="0" anchor="ctr"/>
          <a:lstStyle/>
          <a:p>
            <a:pPr indent="0" marL="0">
              <a:buNone/>
            </a:pPr>
            <a:r>
              <a:rPr lang="en-US" sz="1400" b="1" dirty="0">
                <a:solidFill>
                  <a:schemeClr val="accent1"/>
                </a:solidFill>
              </a:rPr>
              <a:t>Duration error on unseen books (lower is better)</a:t>
            </a:r>
            <a:endParaRPr lang="en-US" sz="1400" dirty="0"/>
          </a:p>
        </p:txBody>
      </p:sp>
      <p:graphicFrame>
        <p:nvGraphicFramePr>
          <p:cNvPr id="4" name="Chart 0" descr=""/>
          <p:cNvGraphicFramePr/>
          <p:nvPr/>
        </p:nvGraphicFramePr>
        <p:xfrm>
          <a:off x="548640" y="1591056"/>
          <a:ext cx="5486400" cy="23317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40080" y="3977640"/>
            <a:ext cx="5394960" cy="457200"/>
          </a:xfrm>
          <a:prstGeom prst="rect">
            <a:avLst/>
          </a:prstGeom>
          <a:noFill/>
          <a:ln/>
        </p:spPr>
        <p:txBody>
          <a:bodyPr wrap="square" lIns="0" tIns="0" rIns="0" bIns="0" rtlCol="0" anchor="ctr"/>
          <a:lstStyle/>
          <a:p>
            <a:pPr indent="0" marL="0">
              <a:buNone/>
            </a:pPr>
            <a:r>
              <a:rPr lang="en-US" sz="2400" b="1" dirty="0">
                <a:solidFill>
                  <a:srgbClr val="02C39A"/>
                </a:solidFill>
              </a:rPr>
              <a:t>35.8% </a:t>
            </a:r>
            <a:pPr indent="0" marL="0">
              <a:buNone/>
            </a:pPr>
            <a:r>
              <a:rPr lang="en-US" sz="1300" dirty="0">
                <a:solidFill>
                  <a:srgbClr val="3A4A58"/>
                </a:solidFill>
              </a:rPr>
              <a:t>better than the baseline — our features earn their place</a:t>
            </a:r>
            <a:endParaRPr lang="en-US" sz="2400" dirty="0"/>
          </a:p>
        </p:txBody>
      </p:sp>
      <p:sp>
        <p:nvSpPr>
          <p:cNvPr id="6" name="surpriseCard"/>
          <p:cNvSpPr/>
          <p:nvPr/>
        </p:nvSpPr>
        <p:spPr>
          <a:xfrm>
            <a:off x="548640" y="4572000"/>
            <a:ext cx="5486400" cy="1508760"/>
          </a:xfrm>
          <a:prstGeom prst="roundRect">
            <a:avLst>
              <a:gd name="adj" fmla="val 3636"/>
            </a:avLst>
          </a:prstGeom>
          <a:solidFill>
            <a:schemeClr val="bg2"/>
          </a:solidFill>
          <a:ln w="12700">
            <a:solidFill>
              <a:srgbClr val="D7E3EA"/>
            </a:solidFill>
            <a:prstDash val="solid"/>
          </a:ln>
          <a:effectLst>
            <a:outerShdw sx="100000" sy="100000" kx="0" ky="0" algn="bl" rotWithShape="0" blurRad="101600" dist="25400" dir="5400000">
              <a:srgbClr val="9AB2BF">
                <a:alpha val="25000"/>
              </a:srgbClr>
            </a:outerShdw>
          </a:effectLst>
        </p:spPr>
      </p:sp>
      <p:sp>
        <p:nvSpPr>
          <p:cNvPr id="7" name="Text 4"/>
          <p:cNvSpPr txBox="1"/>
          <p:nvPr/>
        </p:nvSpPr>
        <p:spPr>
          <a:xfrm>
            <a:off x="822960" y="4709160"/>
            <a:ext cx="4937760" cy="274320"/>
          </a:xfrm>
          <a:prstGeom prst="rect">
            <a:avLst/>
          </a:prstGeom>
          <a:noFill/>
          <a:ln/>
        </p:spPr>
        <p:txBody>
          <a:bodyPr wrap="square" lIns="0" tIns="0" rIns="0" bIns="0" rtlCol="0" anchor="ctr"/>
          <a:lstStyle/>
          <a:p>
            <a:pPr indent="0" marL="0">
              <a:buNone/>
            </a:pPr>
            <a:r>
              <a:rPr lang="en-US" sz="1100" b="1" dirty="0">
                <a:solidFill>
                  <a:schemeClr val="accent6"/>
                </a:solidFill>
              </a:rPr>
              <a:t>The surprise</a:t>
            </a:r>
            <a:endParaRPr lang="en-US" sz="1100" dirty="0"/>
          </a:p>
        </p:txBody>
      </p:sp>
      <p:sp>
        <p:nvSpPr>
          <p:cNvPr id="8" name="Text 5"/>
          <p:cNvSpPr txBox="1"/>
          <p:nvPr/>
        </p:nvSpPr>
        <p:spPr>
          <a:xfrm>
            <a:off x="822960" y="4983480"/>
            <a:ext cx="4937760" cy="1005840"/>
          </a:xfrm>
          <a:prstGeom prst="rect">
            <a:avLst/>
          </a:prstGeom>
          <a:noFill/>
          <a:ln/>
        </p:spPr>
        <p:txBody>
          <a:bodyPr wrap="square" lIns="0" tIns="0" rIns="0" bIns="0" rtlCol="0" anchor="ctr"/>
          <a:lstStyle/>
          <a:p>
            <a:pPr indent="0" marL="0">
              <a:buNone/>
            </a:pPr>
            <a:r>
              <a:rPr lang="en-US" sz="1050" dirty="0">
                <a:solidFill>
                  <a:srgbClr val="3A4A58"/>
                </a:solidFill>
              </a:rPr>
              <a:t>We expected A2 (predicted) to be worse than A1 (true durations). It was not — 21.15% vs 23.65%. The difference is marginal (better on 40 of 100 clips, p = 0.05 to 0.10), so the honest claim is that duration error had no measurable effect on intelligibility.</a:t>
            </a:r>
            <a:endParaRPr lang="en-US" sz="1050" dirty="0"/>
          </a:p>
        </p:txBody>
      </p:sp>
      <p:sp>
        <p:nvSpPr>
          <p:cNvPr id="9" name="Text 6"/>
          <p:cNvSpPr txBox="1"/>
          <p:nvPr/>
        </p:nvSpPr>
        <p:spPr>
          <a:xfrm>
            <a:off x="6400800" y="1207008"/>
            <a:ext cx="5120640" cy="320040"/>
          </a:xfrm>
          <a:prstGeom prst="rect">
            <a:avLst/>
          </a:prstGeom>
          <a:noFill/>
          <a:ln/>
        </p:spPr>
        <p:txBody>
          <a:bodyPr wrap="square" lIns="0" tIns="0" rIns="0" bIns="0" rtlCol="0" anchor="ctr"/>
          <a:lstStyle/>
          <a:p>
            <a:pPr indent="0" marL="0">
              <a:buNone/>
            </a:pPr>
            <a:r>
              <a:rPr lang="en-US" sz="1400" b="1" dirty="0">
                <a:solidFill>
                  <a:schemeClr val="accent1"/>
                </a:solidFill>
              </a:rPr>
              <a:t>Can a machine still understand the speech?</a:t>
            </a:r>
            <a:endParaRPr lang="en-US" sz="1400" dirty="0"/>
          </a:p>
        </p:txBody>
      </p:sp>
      <p:graphicFrame>
        <p:nvGraphicFramePr>
          <p:cNvPr id="5" name="werTable"/>
          <p:cNvGraphicFramePr>
            <a:graphicFrameLocks noGrp="1"/>
          </p:cNvGraphicFramePr>
          <p:nvPr>
            <p:extLst>
              <p:ext uri="{D42A27DB-BD31-4B8C-83A1-F6EECF244321}">
                <p14:modId xmlns:p14="http://schemas.microsoft.com/office/powerpoint/2010/main" val="1579011935"/>
              </p:ext>
            </p:extLst>
          </p:nvPr>
        </p:nvGraphicFramePr>
        <p:xfrm>
          <a:off x="6400800" y="1591056"/>
          <a:ext cx="5120640" cy="914400"/>
        </p:xfrm>
        <a:graphic>
          <a:graphicData uri="http://schemas.openxmlformats.org/drawingml/2006/table">
            <a:tbl>
              <a:tblPr/>
              <a:tblGrid>
                <a:gridCol w="731520"/>
                <a:gridCol w="2377440"/>
                <a:gridCol w="1005840"/>
                <a:gridCol w="1005840"/>
              </a:tblGrid>
              <a:tr h="329184">
                <a:tc>
                  <a:txBody>
                    <a:bodyPr/>
                    <a:lstStyle/>
                    <a:p>
                      <a:pPr indent="0" marL="0">
                        <a:buNone/>
                      </a:pPr>
                      <a:r>
                        <a:rPr lang="en-US" sz="1100" b="1" dirty="0">
                          <a:solidFill>
                            <a:srgbClr val="FFFFFF"/>
                          </a:solidFill>
                        </a:rPr>
                        <a:t>System</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rPr>
                        <a:t>What it is</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rPr>
                        <a:t>WER</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065A82"/>
                    </a:solidFill>
                  </a:tcPr>
                </a:tc>
                <a:tc>
                  <a:txBody>
                    <a:bodyPr/>
                    <a:lstStyle/>
                    <a:p>
                      <a:pPr indent="0" marL="0">
                        <a:buNone/>
                      </a:pPr>
                      <a:r>
                        <a:rPr lang="en-US" sz="1100" b="1" dirty="0">
                          <a:solidFill>
                            <a:srgbClr val="FFFFFF"/>
                          </a:solidFill>
                        </a:rPr>
                        <a:t>CER</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solidFill>
                      <a:srgbClr val="065A82"/>
                    </a:solidFill>
                  </a:tcPr>
                </a:tc>
              </a:tr>
              <a:tr h="329184">
                <a:tc>
                  <a:txBody>
                    <a:bodyPr/>
                    <a:lstStyle/>
                    <a:p>
                      <a:pPr indent="0" marL="0">
                        <a:buNone/>
                      </a:pPr>
                      <a:r>
                        <a:rPr lang="en-US" sz="1100" b="1" dirty="0">
                          <a:solidFill>
                            <a:srgbClr val="065A82"/>
                          </a:solidFill>
                        </a:rPr>
                        <a:t>R0</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050" dirty="0">
                          <a:solidFill>
                            <a:srgbClr val="3A4A58"/>
                          </a:solidFill>
                        </a:rPr>
                        <a:t>real recording</a:t>
                      </a:r>
                      <a:endParaRPr lang="en-US" sz="105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b="1" dirty="0">
                          <a:solidFill>
                            <a:srgbClr val="3A4A58"/>
                          </a:solidFill>
                        </a:rPr>
                        <a:t>1.85%</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050" dirty="0">
                          <a:solidFill>
                            <a:srgbClr val="6B7A88"/>
                          </a:solidFill>
                        </a:rPr>
                        <a:t>0.71%</a:t>
                      </a:r>
                      <a:endParaRPr lang="en-US" sz="105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r>
              <a:tr h="329184">
                <a:tc>
                  <a:txBody>
                    <a:bodyPr/>
                    <a:lstStyle/>
                    <a:p>
                      <a:pPr indent="0" marL="0">
                        <a:buNone/>
                      </a:pPr>
                      <a:r>
                        <a:rPr lang="en-US" sz="1100" b="1" dirty="0">
                          <a:solidFill>
                            <a:srgbClr val="065A82"/>
                          </a:solidFill>
                        </a:rPr>
                        <a:t>R1</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050" dirty="0">
                          <a:solidFill>
                            <a:srgbClr val="3A4A58"/>
                          </a:solidFill>
                        </a:rPr>
                        <a:t>real spectrogram -&gt; vocoder</a:t>
                      </a:r>
                      <a:endParaRPr lang="en-US" sz="105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b="1" dirty="0">
                          <a:solidFill>
                            <a:srgbClr val="3A4A58"/>
                          </a:solidFill>
                        </a:rPr>
                        <a:t>2.48%</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050" dirty="0">
                          <a:solidFill>
                            <a:srgbClr val="6B7A88"/>
                          </a:solidFill>
                        </a:rPr>
                        <a:t>0.95%</a:t>
                      </a:r>
                      <a:endParaRPr lang="en-US" sz="105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r>
              <a:tr h="329184">
                <a:tc>
                  <a:txBody>
                    <a:bodyPr/>
                    <a:lstStyle/>
                    <a:p>
                      <a:pPr indent="0" marL="0">
                        <a:buNone/>
                      </a:pPr>
                      <a:r>
                        <a:rPr lang="en-US" sz="1100" b="1" dirty="0">
                          <a:solidFill>
                            <a:srgbClr val="065A82"/>
                          </a:solidFill>
                        </a:rPr>
                        <a:t>A1</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050" dirty="0">
                          <a:solidFill>
                            <a:srgbClr val="3A4A58"/>
                          </a:solidFill>
                        </a:rPr>
                        <a:t>templates + TRUE durations</a:t>
                      </a:r>
                      <a:endParaRPr lang="en-US" sz="105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b="1" dirty="0">
                          <a:solidFill>
                            <a:srgbClr val="3A4A58"/>
                          </a:solidFill>
                        </a:rPr>
                        <a:t>23.65%</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050" dirty="0">
                          <a:solidFill>
                            <a:srgbClr val="6B7A88"/>
                          </a:solidFill>
                        </a:rPr>
                        <a:t>11.83%</a:t>
                      </a:r>
                      <a:endParaRPr lang="en-US" sz="105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r>
              <a:tr h="329184">
                <a:tc>
                  <a:txBody>
                    <a:bodyPr/>
                    <a:lstStyle/>
                    <a:p>
                      <a:pPr indent="0" marL="0">
                        <a:buNone/>
                      </a:pPr>
                      <a:r>
                        <a:rPr lang="en-US" sz="1100" b="1" dirty="0">
                          <a:solidFill>
                            <a:srgbClr val="02C39A"/>
                          </a:solidFill>
                        </a:rPr>
                        <a:t>A2</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050" dirty="0">
                          <a:solidFill>
                            <a:srgbClr val="3A4A58"/>
                          </a:solidFill>
                        </a:rPr>
                        <a:t>templates + PREDICTED durations</a:t>
                      </a:r>
                      <a:endParaRPr lang="en-US" sz="105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100" b="1" dirty="0">
                          <a:solidFill>
                            <a:srgbClr val="02C39A"/>
                          </a:solidFill>
                        </a:rPr>
                        <a:t>21.15%</a:t>
                      </a:r>
                      <a:endParaRPr lang="en-US" sz="110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c>
                  <a:txBody>
                    <a:bodyPr/>
                    <a:lstStyle/>
                    <a:p>
                      <a:pPr indent="0" marL="0">
                        <a:buNone/>
                      </a:pPr>
                      <a:r>
                        <a:rPr lang="en-US" sz="1050" dirty="0">
                          <a:solidFill>
                            <a:srgbClr val="6B7A88"/>
                          </a:solidFill>
                        </a:rPr>
                        <a:t>10.02%</a:t>
                      </a:r>
                      <a:endParaRPr lang="en-US" sz="1050" dirty="0"/>
                    </a:p>
                  </a:txBody>
                  <a:tcPr marL="64008" marR="64008" marT="64008" marB="64008">
                    <a:lnL w="12700" cap="flat" cmpd="sng" algn="ctr">
                      <a:solidFill>
                        <a:srgbClr val="D7E3EA"/>
                      </a:solidFill>
                      <a:prstDash val="solid"/>
                      <a:round/>
                      <a:headEnd type="none" w="med" len="med"/>
                      <a:tailEnd type="none" w="med" len="med"/>
                    </a:lnL>
                    <a:lnR w="12700" cap="flat" cmpd="sng" algn="ctr">
                      <a:solidFill>
                        <a:srgbClr val="D7E3EA"/>
                      </a:solidFill>
                      <a:prstDash val="solid"/>
                      <a:round/>
                      <a:headEnd type="none" w="med" len="med"/>
                      <a:tailEnd type="none" w="med" len="med"/>
                    </a:lnR>
                    <a:lnT w="12700" cap="flat" cmpd="sng" algn="ctr">
                      <a:solidFill>
                        <a:srgbClr val="D7E3EA"/>
                      </a:solidFill>
                      <a:prstDash val="solid"/>
                      <a:round/>
                      <a:headEnd type="none" w="med" len="med"/>
                      <a:tailEnd type="none" w="med" len="med"/>
                    </a:lnT>
                    <a:lnB w="12700" cap="flat" cmpd="sng" algn="ctr">
                      <a:solidFill>
                        <a:srgbClr val="D7E3EA"/>
                      </a:solidFill>
                      <a:prstDash val="solid"/>
                      <a:round/>
                      <a:headEnd type="none" w="med" len="med"/>
                      <a:tailEnd type="none" w="med" len="med"/>
                    </a:lnB>
                  </a:tcPr>
                </a:tc>
              </a:tr>
            </a:tbl>
          </a:graphicData>
        </a:graphic>
      </p:graphicFrame>
      <p:sp>
        <p:nvSpPr>
          <p:cNvPr id="11" name="Text 7"/>
          <p:cNvSpPr txBox="1"/>
          <p:nvPr/>
        </p:nvSpPr>
        <p:spPr>
          <a:xfrm>
            <a:off x="6400800" y="3703320"/>
            <a:ext cx="5120640" cy="292608"/>
          </a:xfrm>
          <a:prstGeom prst="rect">
            <a:avLst/>
          </a:prstGeom>
          <a:noFill/>
          <a:ln/>
        </p:spPr>
        <p:txBody>
          <a:bodyPr wrap="square" lIns="0" tIns="0" rIns="0" bIns="0" rtlCol="0" anchor="ctr"/>
          <a:lstStyle/>
          <a:p>
            <a:pPr indent="0" marL="0">
              <a:buNone/>
            </a:pPr>
            <a:r>
              <a:rPr lang="en-US" sz="1300" b="1" dirty="0">
                <a:solidFill>
                  <a:schemeClr val="accent1"/>
                </a:solidFill>
              </a:rPr>
              <a:t>Where does the quality actually go?</a:t>
            </a:r>
            <a:endParaRPr lang="en-US" sz="1300" dirty="0"/>
          </a:p>
        </p:txBody>
      </p:sp>
      <p:sp>
        <p:nvSpPr>
          <p:cNvPr id="12" name="Text 8"/>
          <p:cNvSpPr txBox="1"/>
          <p:nvPr/>
        </p:nvSpPr>
        <p:spPr>
          <a:xfrm>
            <a:off x="6400800" y="4069080"/>
            <a:ext cx="1051560" cy="274320"/>
          </a:xfrm>
          <a:prstGeom prst="rect">
            <a:avLst/>
          </a:prstGeom>
          <a:noFill/>
          <a:ln/>
        </p:spPr>
        <p:txBody>
          <a:bodyPr wrap="square" lIns="0" tIns="0" rIns="0" bIns="0" rtlCol="0" anchor="ctr"/>
          <a:lstStyle/>
          <a:p>
            <a:pPr indent="0" marL="0">
              <a:buNone/>
            </a:pPr>
            <a:r>
              <a:rPr lang="en-US" sz="1100" b="1" dirty="0">
                <a:solidFill>
                  <a:srgbClr val="6B7A88"/>
                </a:solidFill>
              </a:rPr>
              <a:t>R0 → R1</a:t>
            </a:r>
            <a:endParaRPr lang="en-US" sz="1100" dirty="0"/>
          </a:p>
        </p:txBody>
      </p:sp>
      <p:sp>
        <p:nvSpPr>
          <p:cNvPr id="13" name="Text 9"/>
          <p:cNvSpPr txBox="1"/>
          <p:nvPr/>
        </p:nvSpPr>
        <p:spPr>
          <a:xfrm>
            <a:off x="7406640" y="4069080"/>
            <a:ext cx="1097280" cy="274320"/>
          </a:xfrm>
          <a:prstGeom prst="rect">
            <a:avLst/>
          </a:prstGeom>
          <a:noFill/>
          <a:ln/>
        </p:spPr>
        <p:txBody>
          <a:bodyPr wrap="square" lIns="0" tIns="0" rIns="0" bIns="0" rtlCol="0" anchor="ctr"/>
          <a:lstStyle/>
          <a:p>
            <a:pPr indent="0" marL="0">
              <a:buNone/>
            </a:pPr>
            <a:r>
              <a:rPr lang="en-US" sz="1300" b="1" dirty="0">
                <a:solidFill>
                  <a:srgbClr val="1C7293"/>
                </a:solidFill>
              </a:rPr>
              <a:t>+0.63 pp</a:t>
            </a:r>
            <a:endParaRPr lang="en-US" sz="1300" dirty="0"/>
          </a:p>
        </p:txBody>
      </p:sp>
      <p:sp>
        <p:nvSpPr>
          <p:cNvPr id="14" name="Text 10"/>
          <p:cNvSpPr txBox="1"/>
          <p:nvPr/>
        </p:nvSpPr>
        <p:spPr>
          <a:xfrm>
            <a:off x="8549640" y="4087368"/>
            <a:ext cx="3017520" cy="274320"/>
          </a:xfrm>
          <a:prstGeom prst="rect">
            <a:avLst/>
          </a:prstGeom>
          <a:noFill/>
          <a:ln/>
        </p:spPr>
        <p:txBody>
          <a:bodyPr wrap="square" lIns="0" tIns="0" rIns="0" bIns="0" rtlCol="0" anchor="ctr"/>
          <a:lstStyle/>
          <a:p>
            <a:pPr indent="0" marL="0">
              <a:buNone/>
            </a:pPr>
            <a:r>
              <a:rPr lang="en-US" sz="1050" dirty="0">
                <a:solidFill>
                  <a:srgbClr val="3A4A58"/>
                </a:solidFill>
              </a:rPr>
              <a:t>the vocoder — almost free</a:t>
            </a:r>
            <a:endParaRPr lang="en-US" sz="1050" dirty="0"/>
          </a:p>
        </p:txBody>
      </p:sp>
      <p:sp>
        <p:nvSpPr>
          <p:cNvPr id="15" name="Text 11"/>
          <p:cNvSpPr txBox="1"/>
          <p:nvPr/>
        </p:nvSpPr>
        <p:spPr>
          <a:xfrm>
            <a:off x="6400800" y="4453128"/>
            <a:ext cx="1051560" cy="274320"/>
          </a:xfrm>
          <a:prstGeom prst="rect">
            <a:avLst/>
          </a:prstGeom>
          <a:noFill/>
          <a:ln/>
        </p:spPr>
        <p:txBody>
          <a:bodyPr wrap="square" lIns="0" tIns="0" rIns="0" bIns="0" rtlCol="0" anchor="ctr"/>
          <a:lstStyle/>
          <a:p>
            <a:pPr indent="0" marL="0">
              <a:buNone/>
            </a:pPr>
            <a:r>
              <a:rPr lang="en-US" sz="1100" b="1" dirty="0">
                <a:solidFill>
                  <a:srgbClr val="6B7A88"/>
                </a:solidFill>
              </a:rPr>
              <a:t>R1 → A1</a:t>
            </a:r>
            <a:endParaRPr lang="en-US" sz="1100" dirty="0"/>
          </a:p>
        </p:txBody>
      </p:sp>
      <p:sp>
        <p:nvSpPr>
          <p:cNvPr id="16" name="Text 12"/>
          <p:cNvSpPr txBox="1"/>
          <p:nvPr/>
        </p:nvSpPr>
        <p:spPr>
          <a:xfrm>
            <a:off x="7406640" y="4453128"/>
            <a:ext cx="1097280" cy="274320"/>
          </a:xfrm>
          <a:prstGeom prst="rect">
            <a:avLst/>
          </a:prstGeom>
          <a:noFill/>
          <a:ln/>
        </p:spPr>
        <p:txBody>
          <a:bodyPr wrap="square" lIns="0" tIns="0" rIns="0" bIns="0" rtlCol="0" anchor="ctr"/>
          <a:lstStyle/>
          <a:p>
            <a:pPr indent="0" marL="0">
              <a:buNone/>
            </a:pPr>
            <a:r>
              <a:rPr lang="en-US" sz="1300" b="1" dirty="0">
                <a:solidFill>
                  <a:srgbClr val="B85042"/>
                </a:solidFill>
              </a:rPr>
              <a:t>+21.17 pp</a:t>
            </a:r>
            <a:endParaRPr lang="en-US" sz="1300" dirty="0"/>
          </a:p>
        </p:txBody>
      </p:sp>
      <p:sp>
        <p:nvSpPr>
          <p:cNvPr id="17" name="Text 13"/>
          <p:cNvSpPr txBox="1"/>
          <p:nvPr/>
        </p:nvSpPr>
        <p:spPr>
          <a:xfrm>
            <a:off x="8549640" y="4471416"/>
            <a:ext cx="3017520" cy="274320"/>
          </a:xfrm>
          <a:prstGeom prst="rect">
            <a:avLst/>
          </a:prstGeom>
          <a:noFill/>
          <a:ln/>
        </p:spPr>
        <p:txBody>
          <a:bodyPr wrap="square" lIns="0" tIns="0" rIns="0" bIns="0" rtlCol="0" anchor="ctr"/>
          <a:lstStyle/>
          <a:p>
            <a:pPr indent="0" marL="0">
              <a:buNone/>
            </a:pPr>
            <a:r>
              <a:rPr lang="en-US" sz="1050" dirty="0">
                <a:solidFill>
                  <a:srgbClr val="3A4A58"/>
                </a:solidFill>
              </a:rPr>
              <a:t>averaged templates — all the loss is here</a:t>
            </a:r>
            <a:endParaRPr lang="en-US" sz="1050" dirty="0"/>
          </a:p>
        </p:txBody>
      </p:sp>
      <p:sp>
        <p:nvSpPr>
          <p:cNvPr id="18" name="Text 14"/>
          <p:cNvSpPr txBox="1"/>
          <p:nvPr/>
        </p:nvSpPr>
        <p:spPr>
          <a:xfrm>
            <a:off x="6400800" y="4837176"/>
            <a:ext cx="1051560" cy="274320"/>
          </a:xfrm>
          <a:prstGeom prst="rect">
            <a:avLst/>
          </a:prstGeom>
          <a:noFill/>
          <a:ln/>
        </p:spPr>
        <p:txBody>
          <a:bodyPr wrap="square" lIns="0" tIns="0" rIns="0" bIns="0" rtlCol="0" anchor="ctr"/>
          <a:lstStyle/>
          <a:p>
            <a:pPr indent="0" marL="0">
              <a:buNone/>
            </a:pPr>
            <a:r>
              <a:rPr lang="en-US" sz="1100" b="1" dirty="0">
                <a:solidFill>
                  <a:srgbClr val="6B7A88"/>
                </a:solidFill>
              </a:rPr>
              <a:t>A1 → A2</a:t>
            </a:r>
            <a:endParaRPr lang="en-US" sz="1100" dirty="0"/>
          </a:p>
        </p:txBody>
      </p:sp>
      <p:sp>
        <p:nvSpPr>
          <p:cNvPr id="19" name="Text 15"/>
          <p:cNvSpPr txBox="1"/>
          <p:nvPr/>
        </p:nvSpPr>
        <p:spPr>
          <a:xfrm>
            <a:off x="7406640" y="4837176"/>
            <a:ext cx="1097280" cy="274320"/>
          </a:xfrm>
          <a:prstGeom prst="rect">
            <a:avLst/>
          </a:prstGeom>
          <a:noFill/>
          <a:ln/>
        </p:spPr>
        <p:txBody>
          <a:bodyPr wrap="square" lIns="0" tIns="0" rIns="0" bIns="0" rtlCol="0" anchor="ctr"/>
          <a:lstStyle/>
          <a:p>
            <a:pPr indent="0" marL="0">
              <a:buNone/>
            </a:pPr>
            <a:r>
              <a:rPr lang="en-US" sz="1300" b="1" dirty="0">
                <a:solidFill>
                  <a:srgbClr val="02C39A"/>
                </a:solidFill>
              </a:rPr>
              <a:t>−2.50 pp</a:t>
            </a:r>
            <a:endParaRPr lang="en-US" sz="1300" dirty="0"/>
          </a:p>
        </p:txBody>
      </p:sp>
      <p:sp>
        <p:nvSpPr>
          <p:cNvPr id="20" name="Text 16"/>
          <p:cNvSpPr txBox="1"/>
          <p:nvPr/>
        </p:nvSpPr>
        <p:spPr>
          <a:xfrm>
            <a:off x="8549640" y="4855464"/>
            <a:ext cx="3017520" cy="274320"/>
          </a:xfrm>
          <a:prstGeom prst="rect">
            <a:avLst/>
          </a:prstGeom>
          <a:noFill/>
          <a:ln/>
        </p:spPr>
        <p:txBody>
          <a:bodyPr wrap="square" lIns="0" tIns="0" rIns="0" bIns="0" rtlCol="0" anchor="ctr"/>
          <a:lstStyle/>
          <a:p>
            <a:pPr indent="0" marL="0">
              <a:buNone/>
            </a:pPr>
            <a:r>
              <a:rPr lang="en-US" sz="1050" dirty="0">
                <a:solidFill>
                  <a:srgbClr val="3A4A58"/>
                </a:solidFill>
              </a:rPr>
              <a:t>predicting durations — cost nothing</a:t>
            </a:r>
            <a:endParaRPr lang="en-US" sz="1050" dirty="0"/>
          </a:p>
        </p:txBody>
      </p:sp>
      <p:sp>
        <p:nvSpPr>
          <p:cNvPr id="21" name="Text 17"/>
          <p:cNvSpPr txBox="1"/>
          <p:nvPr/>
        </p:nvSpPr>
        <p:spPr>
          <a:xfrm>
            <a:off x="6400800" y="5349240"/>
            <a:ext cx="5120640" cy="365760"/>
          </a:xfrm>
          <a:prstGeom prst="rect">
            <a:avLst/>
          </a:prstGeom>
          <a:noFill/>
          <a:ln/>
        </p:spPr>
        <p:txBody>
          <a:bodyPr wrap="square" lIns="0" tIns="0" rIns="0" bIns="0" rtlCol="0" anchor="ctr"/>
          <a:lstStyle/>
          <a:p>
            <a:pPr indent="0" marL="0">
              <a:buNone/>
            </a:pPr>
            <a:r>
              <a:rPr lang="en-US" sz="1200" b="1" dirty="0">
                <a:solidFill>
                  <a:schemeClr val="accent3"/>
                </a:solidFill>
              </a:rPr>
              <a:t>The acoustic model matters about 30x more than duration accuracy.</a:t>
            </a:r>
            <a:endParaRPr lang="en-US" sz="12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7B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13232"/>
          </a:xfrm>
          <a:prstGeom prst="rect">
            <a:avLst/>
          </a:prstGeom>
          <a:noFill/>
          <a:ln/>
        </p:spPr>
        <p:txBody>
          <a:bodyPr wrap="square" rtlCol="0"/>
          <a:lstStyle/>
          <a:p>
            <a:pPr algn="l" indent="0" marL="0">
              <a:buNone/>
            </a:pPr>
            <a:r>
              <a:rPr lang="en-US" sz="3600" b="1" dirty="0">
                <a:solidFill>
                  <a:schemeClr val="bg1"/>
                </a:solidFill>
              </a:rPr>
              <a:t>What we learned</a:t>
            </a:r>
            <a:endParaRPr lang="en-US" sz="3600" dirty="0"/>
          </a:p>
        </p:txBody>
      </p:sp>
      <p:sp>
        <p:nvSpPr>
          <p:cNvPr id="3" name="fdot1.5"/>
          <p:cNvSpPr/>
          <p:nvPr/>
        </p:nvSpPr>
        <p:spPr>
          <a:xfrm>
            <a:off x="685800" y="1408176"/>
            <a:ext cx="310896" cy="310896"/>
          </a:xfrm>
          <a:prstGeom prst="ellipse">
            <a:avLst/>
          </a:prstGeom>
          <a:solidFill>
            <a:schemeClr val="accent2"/>
          </a:solidFill>
          <a:ln/>
        </p:spPr>
      </p:sp>
      <p:sp>
        <p:nvSpPr>
          <p:cNvPr id="4" name="Text 2"/>
          <p:cNvSpPr txBox="1"/>
          <p:nvPr/>
        </p:nvSpPr>
        <p:spPr>
          <a:xfrm>
            <a:off x="1143000" y="1371600"/>
            <a:ext cx="10332720" cy="365760"/>
          </a:xfrm>
          <a:prstGeom prst="rect">
            <a:avLst/>
          </a:prstGeom>
          <a:noFill/>
          <a:ln/>
        </p:spPr>
        <p:txBody>
          <a:bodyPr wrap="square" lIns="0" tIns="0" rIns="0" bIns="0" rtlCol="0" anchor="ctr"/>
          <a:lstStyle/>
          <a:p>
            <a:pPr indent="0" marL="0">
              <a:buNone/>
            </a:pPr>
            <a:r>
              <a:rPr lang="en-US" sz="1600" b="1" dirty="0">
                <a:solidFill>
                  <a:srgbClr val="FFFFFF"/>
                </a:solidFill>
              </a:rPr>
              <a:t>Forced alignment gives genuinely reliable timing</a:t>
            </a:r>
            <a:endParaRPr lang="en-US" sz="1600" dirty="0"/>
          </a:p>
        </p:txBody>
      </p:sp>
      <p:sp>
        <p:nvSpPr>
          <p:cNvPr id="5" name="Text 3"/>
          <p:cNvSpPr txBox="1"/>
          <p:nvPr/>
        </p:nvSpPr>
        <p:spPr>
          <a:xfrm>
            <a:off x="1143000" y="1755648"/>
            <a:ext cx="10332720" cy="457200"/>
          </a:xfrm>
          <a:prstGeom prst="rect">
            <a:avLst/>
          </a:prstGeom>
          <a:noFill/>
          <a:ln/>
        </p:spPr>
        <p:txBody>
          <a:bodyPr wrap="square" lIns="0" tIns="0" rIns="0" bIns="0" rtlCol="0" anchor="ctr"/>
          <a:lstStyle/>
          <a:p>
            <a:pPr indent="0" marL="0">
              <a:buNone/>
            </a:pPr>
            <a:r>
              <a:rPr lang="en-US" sz="1250" dirty="0">
                <a:solidFill>
                  <a:srgbClr val="AEC6D2"/>
                </a:solidFill>
              </a:rPr>
              <a:t>94.6% of boundaries verified against a 53.7% control, all 13,100 clips aligned, none excluded. It also reproduced known phonetics we never built in: stressed vowels 108 ms vs 67 ms.</a:t>
            </a:r>
            <a:endParaRPr lang="en-US" sz="1250" dirty="0"/>
          </a:p>
        </p:txBody>
      </p:sp>
      <p:sp>
        <p:nvSpPr>
          <p:cNvPr id="6" name="fdot2.6"/>
          <p:cNvSpPr/>
          <p:nvPr/>
        </p:nvSpPr>
        <p:spPr>
          <a:xfrm>
            <a:off x="685800" y="2414016"/>
            <a:ext cx="310896" cy="310896"/>
          </a:xfrm>
          <a:prstGeom prst="ellipse">
            <a:avLst/>
          </a:prstGeom>
          <a:solidFill>
            <a:schemeClr val="accent2"/>
          </a:solidFill>
          <a:ln/>
        </p:spPr>
      </p:sp>
      <p:sp>
        <p:nvSpPr>
          <p:cNvPr id="7" name="Text 5"/>
          <p:cNvSpPr txBox="1"/>
          <p:nvPr/>
        </p:nvSpPr>
        <p:spPr>
          <a:xfrm>
            <a:off x="1143000" y="2377440"/>
            <a:ext cx="10332720" cy="365760"/>
          </a:xfrm>
          <a:prstGeom prst="rect">
            <a:avLst/>
          </a:prstGeom>
          <a:noFill/>
          <a:ln/>
        </p:spPr>
        <p:txBody>
          <a:bodyPr wrap="square" lIns="0" tIns="0" rIns="0" bIns="0" rtlCol="0" anchor="ctr"/>
          <a:lstStyle/>
          <a:p>
            <a:pPr indent="0" marL="0">
              <a:buNone/>
            </a:pPr>
            <a:r>
              <a:rPr lang="en-US" sz="1600" b="1" dirty="0">
                <a:solidFill>
                  <a:srgbClr val="FFFFFF"/>
                </a:solidFill>
              </a:rPr>
              <a:t>Context features clearly beat a per-phone average</a:t>
            </a:r>
            <a:endParaRPr lang="en-US" sz="1600" dirty="0"/>
          </a:p>
        </p:txBody>
      </p:sp>
      <p:sp>
        <p:nvSpPr>
          <p:cNvPr id="8" name="Text 6"/>
          <p:cNvSpPr txBox="1"/>
          <p:nvPr/>
        </p:nvSpPr>
        <p:spPr>
          <a:xfrm>
            <a:off x="1143000" y="2761488"/>
            <a:ext cx="10332720" cy="457200"/>
          </a:xfrm>
          <a:prstGeom prst="rect">
            <a:avLst/>
          </a:prstGeom>
          <a:noFill/>
          <a:ln/>
        </p:spPr>
        <p:txBody>
          <a:bodyPr wrap="square" lIns="0" tIns="0" rIns="0" bIns="0" rtlCol="0" anchor="ctr"/>
          <a:lstStyle/>
          <a:p>
            <a:pPr indent="0" marL="0">
              <a:buNone/>
            </a:pPr>
            <a:r>
              <a:rPr lang="en-US" sz="1250" dirty="0">
                <a:solidFill>
                  <a:srgbClr val="AEC6D2"/>
                </a:solidFill>
              </a:rPr>
              <a:t>35.8% lower duration error (30.61 ms → 19.65 ms). Phone identity with stress, the neighbouring phones, and distance to the nearest pause carry the gain.</a:t>
            </a:r>
            <a:endParaRPr lang="en-US" sz="1250" dirty="0"/>
          </a:p>
        </p:txBody>
      </p:sp>
      <p:sp>
        <p:nvSpPr>
          <p:cNvPr id="9" name="fdot3.7"/>
          <p:cNvSpPr/>
          <p:nvPr/>
        </p:nvSpPr>
        <p:spPr>
          <a:xfrm>
            <a:off x="685800" y="3419856"/>
            <a:ext cx="310896" cy="310896"/>
          </a:xfrm>
          <a:prstGeom prst="ellipse">
            <a:avLst/>
          </a:prstGeom>
          <a:solidFill>
            <a:schemeClr val="accent2"/>
          </a:solidFill>
          <a:ln/>
        </p:spPr>
      </p:sp>
      <p:sp>
        <p:nvSpPr>
          <p:cNvPr id="10" name="Text 8"/>
          <p:cNvSpPr txBox="1"/>
          <p:nvPr/>
        </p:nvSpPr>
        <p:spPr>
          <a:xfrm>
            <a:off x="1143000" y="3383280"/>
            <a:ext cx="10332720" cy="365760"/>
          </a:xfrm>
          <a:prstGeom prst="rect">
            <a:avLst/>
          </a:prstGeom>
          <a:noFill/>
          <a:ln/>
        </p:spPr>
        <p:txBody>
          <a:bodyPr wrap="square" lIns="0" tIns="0" rIns="0" bIns="0" rtlCol="0" anchor="ctr"/>
          <a:lstStyle/>
          <a:p>
            <a:pPr indent="0" marL="0">
              <a:buNone/>
            </a:pPr>
            <a:r>
              <a:rPr lang="en-US" sz="1600" b="1" dirty="0">
                <a:solidFill>
                  <a:srgbClr val="FFFFFF"/>
                </a:solidFill>
              </a:rPr>
              <a:t>We set out to measure one thing and learned the other matters ~30x more</a:t>
            </a:r>
            <a:endParaRPr lang="en-US" sz="1600" dirty="0"/>
          </a:p>
        </p:txBody>
      </p:sp>
      <p:sp>
        <p:nvSpPr>
          <p:cNvPr id="11" name="Text 9"/>
          <p:cNvSpPr txBox="1"/>
          <p:nvPr/>
        </p:nvSpPr>
        <p:spPr>
          <a:xfrm>
            <a:off x="1143000" y="3767328"/>
            <a:ext cx="10332720" cy="457200"/>
          </a:xfrm>
          <a:prstGeom prst="rect">
            <a:avLst/>
          </a:prstGeom>
          <a:noFill/>
          <a:ln/>
        </p:spPr>
        <p:txBody>
          <a:bodyPr wrap="square" lIns="0" tIns="0" rIns="0" bIns="0" rtlCol="0" anchor="ctr"/>
          <a:lstStyle/>
          <a:p>
            <a:pPr indent="0" marL="0">
              <a:buNone/>
            </a:pPr>
            <a:r>
              <a:rPr lang="en-US" sz="1250" dirty="0">
                <a:solidFill>
                  <a:srgbClr val="AEC6D2"/>
                </a:solidFill>
              </a:rPr>
              <a:t>Predicting durations cost nothing measurable. The crude acoustic model cost 21 percentage points. So the next effort belongs in the acoustic model — exactly where a diffusion generator would sit.</a:t>
            </a:r>
            <a:endParaRPr lang="en-US" sz="1250" dirty="0"/>
          </a:p>
        </p:txBody>
      </p:sp>
      <p:sp>
        <p:nvSpPr>
          <p:cNvPr id="12" name="Text 10"/>
          <p:cNvSpPr txBox="1"/>
          <p:nvPr/>
        </p:nvSpPr>
        <p:spPr>
          <a:xfrm>
            <a:off x="685800" y="4480560"/>
            <a:ext cx="10515600" cy="292608"/>
          </a:xfrm>
          <a:prstGeom prst="rect">
            <a:avLst/>
          </a:prstGeom>
          <a:noFill/>
          <a:ln/>
        </p:spPr>
        <p:txBody>
          <a:bodyPr wrap="square" lIns="0" tIns="0" rIns="0" bIns="0" rtlCol="0" anchor="ctr"/>
          <a:lstStyle/>
          <a:p>
            <a:pPr indent="0" marL="0">
              <a:buNone/>
            </a:pPr>
            <a:r>
              <a:rPr lang="en-US" sz="1300" b="1" dirty="0">
                <a:solidFill>
                  <a:schemeClr val="accent2"/>
                </a:solidFill>
              </a:rPr>
              <a:t>Being honest about the limits</a:t>
            </a:r>
            <a:endParaRPr lang="en-US" sz="1300" dirty="0"/>
          </a:p>
        </p:txBody>
      </p:sp>
      <p:sp>
        <p:nvSpPr>
          <p:cNvPr id="13" name="Text 11"/>
          <p:cNvSpPr txBox="1"/>
          <p:nvPr/>
        </p:nvSpPr>
        <p:spPr>
          <a:xfrm>
            <a:off x="685800" y="4800600"/>
            <a:ext cx="10515600" cy="118872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8FA9B8"/>
                </a:solidFill>
              </a:rPr>
              <a:t>A2 is told the clip's true total length, so it is not yet a fully autonomous system</a:t>
            </a:r>
            <a:endParaRPr lang="en-US" sz="1150" dirty="0"/>
          </a:p>
          <a:p>
            <a:pPr marL="342900" indent="-342900">
              <a:spcAft>
                <a:spcPts val="600"/>
              </a:spcAft>
              <a:buSzPct val="100000"/>
              <a:buChar char="•"/>
            </a:pPr>
            <a:r>
              <a:rPr lang="en-US" sz="1150" dirty="0">
                <a:solidFill>
                  <a:srgbClr val="8FA9B8"/>
                </a:solidFill>
              </a:rPr>
              <a:t>Word Error Rate measures intelligibility, not naturalness — we ran no human listening test</a:t>
            </a:r>
            <a:endParaRPr lang="en-US" sz="1150" dirty="0"/>
          </a:p>
          <a:p>
            <a:pPr marL="342900" indent="-342900">
              <a:spcAft>
                <a:spcPts val="600"/>
              </a:spcAft>
              <a:buSzPct val="100000"/>
              <a:buChar char="•"/>
            </a:pPr>
            <a:r>
              <a:rPr lang="en-US" sz="1150" dirty="0">
                <a:solidFill>
                  <a:srgbClr val="8FA9B8"/>
                </a:solidFill>
              </a:rPr>
              <a:t>One speaker only, so we cannot claim this generalises to other voices</a:t>
            </a:r>
            <a:endParaRPr lang="en-US" sz="1150" dirty="0"/>
          </a:p>
        </p:txBody>
      </p:sp>
      <p:sp>
        <p:nvSpPr>
          <p:cNvPr id="14" name="Text 12"/>
          <p:cNvSpPr txBox="1"/>
          <p:nvPr/>
        </p:nvSpPr>
        <p:spPr>
          <a:xfrm>
            <a:off x="685800" y="6172200"/>
            <a:ext cx="10515600" cy="320040"/>
          </a:xfrm>
          <a:prstGeom prst="rect">
            <a:avLst/>
          </a:prstGeom>
          <a:noFill/>
          <a:ln/>
        </p:spPr>
        <p:txBody>
          <a:bodyPr wrap="square" lIns="0" tIns="0" rIns="0" bIns="0" rtlCol="0" anchor="ctr"/>
          <a:lstStyle/>
          <a:p>
            <a:pPr indent="0" marL="0">
              <a:buNone/>
            </a:pPr>
            <a:r>
              <a:rPr lang="en-US" sz="1100" i="1" dirty="0">
                <a:solidFill>
                  <a:srgbClr val="02C39A"/>
                </a:solidFill>
              </a:rPr>
              <a:t>Next: predict total length too, replace templates with a learned acoustic model, run a listening test</a:t>
            </a:r>
            <a:endParaRPr lang="en-US" sz="1100" dirty="0"/>
          </a:p>
        </p:txBody>
      </p:sp>
      <p:sp>
        <p:nvSpPr>
          <p:cNvPr id="25" name="Slide Number Placeholder 0"/>
          <p:cNvSpPr>
            <a:spLocks noGrp="1"/>
          </p:cNvSpPr>
          <p:nvPr>
            <p:ph type="sldNum" sz="quarter" idx="4294967295"/>
          </p:nvPr>
        </p:nvSpPr>
        <p:spPr>
          <a:xfrm>
            <a:off x="113842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E8A99"/>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Phonetic Speech">
  <a:themeElements>
    <a:clrScheme name="Phonetic Speech">
      <a:dk1>
        <a:srgbClr val="16213E"/>
      </a:dk1>
      <a:lt1>
        <a:srgbClr val="FFFFFF"/>
      </a:lt1>
      <a:dk2>
        <a:srgbClr val="065A82"/>
      </a:dk2>
      <a:lt2>
        <a:srgbClr val="EEF4F7"/>
      </a:lt2>
      <a:accent1>
        <a:srgbClr val="1C7293"/>
      </a:accent1>
      <a:accent2>
        <a:srgbClr val="02C39A"/>
      </a:accent2>
      <a:accent3>
        <a:srgbClr val="065A82"/>
      </a:accent3>
      <a:accent4>
        <a:srgbClr val="21295C"/>
      </a:accent4>
      <a:accent5>
        <a:srgbClr val="97BC62"/>
      </a:accent5>
      <a:accent6>
        <a:srgbClr val="B85042"/>
      </a:accent6>
      <a:hlink>
        <a:srgbClr val="1C7293"/>
      </a:hlink>
      <a:folHlink>
        <a:srgbClr val="6D2E46"/>
      </a:folHlink>
    </a:clrScheme>
    <a:fontScheme name="Phonetic Spee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Phonetic-Guided Speech Generation</dc:title>
  <dc:subject>PptxGenJS Presentation</dc:subject>
  <dc:creator>Kunal Vats, Tanishk Agrawal, Pushkar Jain, Shaurya Sharma, Chaitanya Shekhawat</dc:creator>
  <cp:lastModifiedBy>Kunal Vats, Tanishk Agrawal, Pushkar Jain, Shaurya Sharma, Chaitanya Shekhawat</cp:lastModifiedBy>
  <cp:revision>1</cp:revision>
  <dcterms:created xsi:type="dcterms:W3CDTF">2026-10-27T21:05:03Z</dcterms:created>
  <dcterms:modified xsi:type="dcterms:W3CDTF">2026-10-27T21:05:03Z</dcterms:modified>
</cp:coreProperties>
</file>