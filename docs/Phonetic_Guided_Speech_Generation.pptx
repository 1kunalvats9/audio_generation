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45adabd-802d-3bea-ac07-c1569118c9af}">
          <p14:sldIdLst>
            <p14:sldId id="256"/>
          </p14:sldIdLst>
        </p14:section>
        <p14:section name="The question" id="{529f1eb2-36b5-7977-8d0f-d134b96cbfcc}">
          <p14:sldIdLst>
            <p14:sldId id="257"/>
          </p14:sldIdLst>
        </p14:section>
        <p14:section name="Approach" id="{798b25d4-2f48-d39d-72fb-c925bcc07ae2}">
          <p14:sldIdLst>
            <p14:sldId id="258"/>
          </p14:sldIdLst>
        </p14:section>
        <p14:section name="Models" id="{c2cf07a5-b8c4-4853-cda0-ebca3d6cf0f4}">
          <p14:sldIdLst>
            <p14:sldId id="259"/>
          </p14:sldIdLst>
        </p14:section>
        <p14:section name="Metrics" id="{3b3a9636-a762-fa8e-4a84-d31f27c3df54}">
          <p14:sldIdLst>
            <p14:sldId id="260"/>
          </p14:sldIdLst>
        </p14:section>
        <p14:section name="Results" id="{1a00458f-afc9-aaeb-4bbe-32e811319080}">
          <p14:sldIdLst>
            <p14:sldId id="261"/>
          </p14:sldIdLst>
        </p14:section>
        <p14:section name="Conclusion" id="{8118fb2e-f7ba-f271-920f-1c7a4738a612}">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a small text-to-speech system, but the goal was not the best-sounding voice. It was to answer one measurable question,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project in one idea. If they ask only one question it will be this. Honest framing: we are not inventing a new model, we are measuring an assumption FastSpeech 2 makes but never isolates.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 test is the thing to stress: 53.7% is chance, so 94.6% proves the aligner is doing real work. Mention that we validated rather than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fourth thing we fitted is the phoneme templates: for each of 70 phones we averaged every training occurrence into one 80x3 matrix. It is a non-parametric acoustic model - fitted from data, just not by gradient descent. Say this if asked what the acoustic model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training loss and the evaluation metric are deliberately different: we train on squared error in LOG space so long silences do not dominate the fit, but we report MAE in linear frames so the number stays interpretable. Mixing those up is a classic mistake; doing it on purpose is a good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metrics agree: the duration source is undetectable, the acoustic model is obvious to both. The vocoder costs 0.72 MOS, the templates cost 2.32 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pushed on why the synthetic audio is worse than the real recording: that is the expected consequence of a deliberately simple acoustic model. The project was never trying to win on audio quality - the experiment is the A1 vs A2 comparison, which is only meaningful because the acoustic model is held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371600"/>
            <a:ext cx="10698480" cy="13716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3" name="Text 0"/>
          <p:cNvSpPr/>
          <p:nvPr>
            <p:ph idx="101" type="body" hasCustomPrompt="1"/>
          </p:nvPr>
        </p:nvSpPr>
        <p:spPr>
          <a:xfrm>
            <a:off x="731520" y="2743200"/>
            <a:ext cx="10698480" cy="731520"/>
          </a:xfrm>
          <a:prstGeom prst="rect">
            <a:avLst/>
          </a:prstGeom>
          <a:noFill/>
          <a:ln/>
        </p:spPr>
        <p:txBody>
          <a:bodyPr wrap="square" rtlCol="0"/>
          <a:lstStyle>
            <a:lvl1pPr algn="l" indent="0" marL="0">
              <a:buNone/>
              <a:defRPr lang="en-US" sz="1800" dirty="0">
                <a:solidFill>
                  <a:srgbClr val="7FB5C9"/>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881360" cy="658368"/>
          </a:xfrm>
          <a:prstGeom prst="rect">
            <a:avLst/>
          </a:prstGeom>
          <a:noFill/>
          <a:ln/>
        </p:spPr>
        <p:txBody>
          <a:bodyPr wrap="square" rtlCol="0"/>
          <a:lstStyle>
            <a:lvl1pPr algn="l" indent="0" marL="0">
              <a:buNone/>
              <a:defRPr lang="en-US" sz="3200" b="1" dirty="0">
                <a:solidFill>
                  <a:schemeClr val="accent3"/>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3842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7B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881360" cy="658368"/>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3842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8A99"/>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7B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371600"/>
            <a:ext cx="10698480" cy="1371600"/>
          </a:xfrm>
          <a:prstGeom prst="rect">
            <a:avLst/>
          </a:prstGeom>
          <a:noFill/>
          <a:ln/>
        </p:spPr>
        <p:txBody>
          <a:bodyPr wrap="square" rtlCol="0"/>
          <a:lstStyle/>
          <a:p>
            <a:pPr algn="l" indent="0" marL="0">
              <a:buNone/>
            </a:pPr>
            <a:r>
              <a:rPr lang="en-US" sz="4200" b="1" dirty="0">
                <a:solidFill>
                  <a:schemeClr val="bg1"/>
                </a:solidFill>
              </a:rPr>
              <a:t>Phonetic-Guided Speech Generation</a:t>
            </a:r>
            <a:endParaRPr lang="en-US" sz="4200" dirty="0"/>
          </a:p>
        </p:txBody>
      </p:sp>
      <p:sp>
        <p:nvSpPr>
          <p:cNvPr id="3" name="Text 0"/>
          <p:cNvSpPr/>
          <p:nvPr>
            <p:ph idx="101" type="body" hasCustomPrompt="1"/>
          </p:nvPr>
        </p:nvSpPr>
        <p:spPr>
          <a:xfrm>
            <a:off x="731520" y="2743200"/>
            <a:ext cx="10698480" cy="731520"/>
          </a:xfrm>
          <a:prstGeom prst="rect">
            <a:avLst/>
          </a:prstGeom>
          <a:noFill/>
          <a:ln/>
        </p:spPr>
        <p:txBody>
          <a:bodyPr wrap="square" rtlCol="0"/>
          <a:lstStyle/>
          <a:p>
            <a:pPr algn="l" indent="0" marL="0">
              <a:buNone/>
            </a:pPr>
            <a:r>
              <a:rPr lang="en-US" sz="1800" dirty="0">
                <a:solidFill>
                  <a:srgbClr val="7FB5C9"/>
                </a:solidFill>
              </a:rPr>
              <a:t>How much does timing matter in synthetic speech?</a:t>
            </a:r>
            <a:endParaRPr lang="en-US" sz="1800" dirty="0"/>
          </a:p>
        </p:txBody>
      </p:sp>
      <p:graphicFrame>
        <p:nvGraphicFramePr>
          <p:cNvPr id="2" name="teamTable"/>
          <p:cNvGraphicFramePr>
            <a:graphicFrameLocks noGrp="1"/>
          </p:cNvGraphicFramePr>
          <p:nvPr>
            <p:extLst>
              <p:ext uri="{D42A27DB-BD31-4B8C-83A1-F6EECF244321}">
                <p14:modId xmlns:p14="http://schemas.microsoft.com/office/powerpoint/2010/main" val="1579011935"/>
              </p:ext>
            </p:extLst>
          </p:nvPr>
        </p:nvGraphicFramePr>
        <p:xfrm>
          <a:off x="731520" y="3703320"/>
          <a:ext cx="10698480" cy="914400"/>
        </p:xfrm>
        <a:graphic>
          <a:graphicData uri="http://schemas.openxmlformats.org/drawingml/2006/table">
            <a:tbl>
              <a:tblPr/>
              <a:tblGrid>
                <a:gridCol w="2926080"/>
                <a:gridCol w="7772400"/>
              </a:tblGrid>
              <a:tr h="384048">
                <a:tc>
                  <a:txBody>
                    <a:bodyPr/>
                    <a:lstStyle/>
                    <a:p>
                      <a:pPr indent="0" marL="0">
                        <a:buNone/>
                      </a:pPr>
                      <a:r>
                        <a:rPr lang="en-US" sz="1300" b="1" dirty="0">
                          <a:solidFill>
                            <a:srgbClr val="FFFFFF"/>
                          </a:solidFill>
                        </a:rPr>
                        <a:t>Kunal Vats</a:t>
                      </a:r>
                      <a:endParaRPr lang="en-US" sz="1300" dirty="0"/>
                    </a:p>
                  </a:txBody>
                  <a:tcPr marL="73152" marR="73152" marT="73152" marB="73152">
                    <a:lnL w="12700" cap="flat" cmpd="sng" algn="ctr">
                      <a:solidFill>
                        <a:srgbClr val="2A3C56"/>
                      </a:solidFill>
                      <a:prstDash val="solid"/>
                      <a:round/>
                      <a:headEnd type="none" w="med" len="med"/>
                      <a:tailEnd type="none" w="med" len="med"/>
                    </a:lnL>
                    <a:lnR w="12700" cap="flat" cmpd="sng" algn="ctr">
                      <a:solidFill>
                        <a:srgbClr val="2A3C56"/>
                      </a:solidFill>
                      <a:prstDash val="solid"/>
                      <a:round/>
                      <a:headEnd type="none" w="med" len="med"/>
                      <a:tailEnd type="none" w="med" len="med"/>
                    </a:lnR>
                    <a:lnT w="12700" cap="flat" cmpd="sng" algn="ctr">
                      <a:solidFill>
                        <a:srgbClr val="2A3C56"/>
                      </a:solidFill>
                      <a:prstDash val="solid"/>
                      <a:round/>
                      <a:headEnd type="none" w="med" len="med"/>
                      <a:tailEnd type="none" w="med" len="med"/>
                    </a:lnT>
                    <a:lnB w="12700" cap="flat" cmpd="sng" algn="ctr">
                      <a:solidFill>
                        <a:srgbClr val="2A3C56"/>
                      </a:solidFill>
                      <a:prstDash val="solid"/>
                      <a:round/>
                      <a:headEnd type="none" w="med" len="med"/>
                      <a:tailEnd type="none" w="med" len="med"/>
                    </a:lnB>
                  </a:tcPr>
                </a:tc>
                <a:tc>
                  <a:txBody>
                    <a:bodyPr/>
                    <a:lstStyle/>
                    <a:p>
                      <a:pPr indent="0" marL="0">
                        <a:buNone/>
                      </a:pPr>
                      <a:r>
                        <a:rPr lang="en-US" sz="1200" dirty="0">
                          <a:solidFill>
                            <a:srgbClr val="BFD4DE"/>
                          </a:solidFill>
                        </a:rPr>
                        <a:t>Data — cleaning, splits, shared settings  ·  Duration model (with Pushkar)</a:t>
                      </a:r>
                      <a:endParaRPr lang="en-US" sz="1200" dirty="0"/>
                    </a:p>
                  </a:txBody>
                  <a:tcPr marL="73152" marR="73152" marT="73152" marB="73152">
                    <a:lnL w="12700" cap="flat" cmpd="sng" algn="ctr">
                      <a:solidFill>
                        <a:srgbClr val="2A3C56"/>
                      </a:solidFill>
                      <a:prstDash val="solid"/>
                      <a:round/>
                      <a:headEnd type="none" w="med" len="med"/>
                      <a:tailEnd type="none" w="med" len="med"/>
                    </a:lnL>
                    <a:lnR w="12700" cap="flat" cmpd="sng" algn="ctr">
                      <a:solidFill>
                        <a:srgbClr val="2A3C56"/>
                      </a:solidFill>
                      <a:prstDash val="solid"/>
                      <a:round/>
                      <a:headEnd type="none" w="med" len="med"/>
                      <a:tailEnd type="none" w="med" len="med"/>
                    </a:lnR>
                    <a:lnT w="12700" cap="flat" cmpd="sng" algn="ctr">
                      <a:solidFill>
                        <a:srgbClr val="2A3C56"/>
                      </a:solidFill>
                      <a:prstDash val="solid"/>
                      <a:round/>
                      <a:headEnd type="none" w="med" len="med"/>
                      <a:tailEnd type="none" w="med" len="med"/>
                    </a:lnT>
                    <a:lnB w="12700" cap="flat" cmpd="sng" algn="ctr">
                      <a:solidFill>
                        <a:srgbClr val="2A3C56"/>
                      </a:solidFill>
                      <a:prstDash val="solid"/>
                      <a:round/>
                      <a:headEnd type="none" w="med" len="med"/>
                      <a:tailEnd type="none" w="med" len="med"/>
                    </a:lnB>
                  </a:tcPr>
                </a:tc>
              </a:tr>
              <a:tr h="384048">
                <a:tc>
                  <a:txBody>
                    <a:bodyPr/>
                    <a:lstStyle/>
                    <a:p>
                      <a:pPr indent="0" marL="0">
                        <a:buNone/>
                      </a:pPr>
                      <a:r>
                        <a:rPr lang="en-US" sz="1300" b="1" dirty="0">
                          <a:solidFill>
                            <a:srgbClr val="FFFFFF"/>
                          </a:solidFill>
                        </a:rPr>
                        <a:t>Pushkar Jain</a:t>
                      </a:r>
                      <a:endParaRPr lang="en-US" sz="1300" dirty="0"/>
                    </a:p>
                  </a:txBody>
                  <a:tcPr marL="73152" marR="73152" marT="73152" marB="73152">
                    <a:lnL w="12700" cap="flat" cmpd="sng" algn="ctr">
                      <a:solidFill>
                        <a:srgbClr val="2A3C56"/>
                      </a:solidFill>
                      <a:prstDash val="solid"/>
                      <a:round/>
                      <a:headEnd type="none" w="med" len="med"/>
                      <a:tailEnd type="none" w="med" len="med"/>
                    </a:lnL>
                    <a:lnR w="12700" cap="flat" cmpd="sng" algn="ctr">
                      <a:solidFill>
                        <a:srgbClr val="2A3C56"/>
                      </a:solidFill>
                      <a:prstDash val="solid"/>
                      <a:round/>
                      <a:headEnd type="none" w="med" len="med"/>
                      <a:tailEnd type="none" w="med" len="med"/>
                    </a:lnR>
                    <a:lnT w="12700" cap="flat" cmpd="sng" algn="ctr">
                      <a:solidFill>
                        <a:srgbClr val="2A3C56"/>
                      </a:solidFill>
                      <a:prstDash val="solid"/>
                      <a:round/>
                      <a:headEnd type="none" w="med" len="med"/>
                      <a:tailEnd type="none" w="med" len="med"/>
                    </a:lnT>
                    <a:lnB w="12700" cap="flat" cmpd="sng" algn="ctr">
                      <a:solidFill>
                        <a:srgbClr val="2A3C56"/>
                      </a:solidFill>
                      <a:prstDash val="solid"/>
                      <a:round/>
                      <a:headEnd type="none" w="med" len="med"/>
                      <a:tailEnd type="none" w="med" len="med"/>
                    </a:lnB>
                  </a:tcPr>
                </a:tc>
                <a:tc>
                  <a:txBody>
                    <a:bodyPr/>
                    <a:lstStyle/>
                    <a:p>
                      <a:pPr indent="0" marL="0">
                        <a:buNone/>
                      </a:pPr>
                      <a:r>
                        <a:rPr lang="en-US" sz="1200" dirty="0">
                          <a:solidFill>
                            <a:srgbClr val="BFD4DE"/>
                          </a:solidFill>
                        </a:rPr>
                        <a:t>Duration model — features, 3 models, error analysis (with Kunal)</a:t>
                      </a:r>
                      <a:endParaRPr lang="en-US" sz="1200" dirty="0"/>
                    </a:p>
                  </a:txBody>
                  <a:tcPr marL="73152" marR="73152" marT="73152" marB="73152">
                    <a:lnL w="12700" cap="flat" cmpd="sng" algn="ctr">
                      <a:solidFill>
                        <a:srgbClr val="2A3C56"/>
                      </a:solidFill>
                      <a:prstDash val="solid"/>
                      <a:round/>
                      <a:headEnd type="none" w="med" len="med"/>
                      <a:tailEnd type="none" w="med" len="med"/>
                    </a:lnL>
                    <a:lnR w="12700" cap="flat" cmpd="sng" algn="ctr">
                      <a:solidFill>
                        <a:srgbClr val="2A3C56"/>
                      </a:solidFill>
                      <a:prstDash val="solid"/>
                      <a:round/>
                      <a:headEnd type="none" w="med" len="med"/>
                      <a:tailEnd type="none" w="med" len="med"/>
                    </a:lnR>
                    <a:lnT w="12700" cap="flat" cmpd="sng" algn="ctr">
                      <a:solidFill>
                        <a:srgbClr val="2A3C56"/>
                      </a:solidFill>
                      <a:prstDash val="solid"/>
                      <a:round/>
                      <a:headEnd type="none" w="med" len="med"/>
                      <a:tailEnd type="none" w="med" len="med"/>
                    </a:lnT>
                    <a:lnB w="12700" cap="flat" cmpd="sng" algn="ctr">
                      <a:solidFill>
                        <a:srgbClr val="2A3C56"/>
                      </a:solidFill>
                      <a:prstDash val="solid"/>
                      <a:round/>
                      <a:headEnd type="none" w="med" len="med"/>
                      <a:tailEnd type="none" w="med" len="med"/>
                    </a:lnB>
                  </a:tcPr>
                </a:tc>
              </a:tr>
              <a:tr h="384048">
                <a:tc>
                  <a:txBody>
                    <a:bodyPr/>
                    <a:lstStyle/>
                    <a:p>
                      <a:pPr indent="0" marL="0">
                        <a:buNone/>
                      </a:pPr>
                      <a:r>
                        <a:rPr lang="en-US" sz="1300" b="1" dirty="0">
                          <a:solidFill>
                            <a:srgbClr val="FFFFFF"/>
                          </a:solidFill>
                        </a:rPr>
                        <a:t>Tanishk Agrawal</a:t>
                      </a:r>
                      <a:endParaRPr lang="en-US" sz="1300" dirty="0"/>
                    </a:p>
                  </a:txBody>
                  <a:tcPr marL="73152" marR="73152" marT="73152" marB="73152">
                    <a:lnL w="12700" cap="flat" cmpd="sng" algn="ctr">
                      <a:solidFill>
                        <a:srgbClr val="2A3C56"/>
                      </a:solidFill>
                      <a:prstDash val="solid"/>
                      <a:round/>
                      <a:headEnd type="none" w="med" len="med"/>
                      <a:tailEnd type="none" w="med" len="med"/>
                    </a:lnL>
                    <a:lnR w="12700" cap="flat" cmpd="sng" algn="ctr">
                      <a:solidFill>
                        <a:srgbClr val="2A3C56"/>
                      </a:solidFill>
                      <a:prstDash val="solid"/>
                      <a:round/>
                      <a:headEnd type="none" w="med" len="med"/>
                      <a:tailEnd type="none" w="med" len="med"/>
                    </a:lnR>
                    <a:lnT w="12700" cap="flat" cmpd="sng" algn="ctr">
                      <a:solidFill>
                        <a:srgbClr val="2A3C56"/>
                      </a:solidFill>
                      <a:prstDash val="solid"/>
                      <a:round/>
                      <a:headEnd type="none" w="med" len="med"/>
                      <a:tailEnd type="none" w="med" len="med"/>
                    </a:lnT>
                    <a:lnB w="12700" cap="flat" cmpd="sng" algn="ctr">
                      <a:solidFill>
                        <a:srgbClr val="2A3C56"/>
                      </a:solidFill>
                      <a:prstDash val="solid"/>
                      <a:round/>
                      <a:headEnd type="none" w="med" len="med"/>
                      <a:tailEnd type="none" w="med" len="med"/>
                    </a:lnB>
                  </a:tcPr>
                </a:tc>
                <a:tc>
                  <a:txBody>
                    <a:bodyPr/>
                    <a:lstStyle/>
                    <a:p>
                      <a:pPr indent="0" marL="0">
                        <a:buNone/>
                      </a:pPr>
                      <a:r>
                        <a:rPr lang="en-US" sz="1200" dirty="0">
                          <a:solidFill>
                            <a:srgbClr val="BFD4DE"/>
                          </a:solidFill>
                        </a:rPr>
                        <a:t>Alignment — forced alignment, phone durations</a:t>
                      </a:r>
                      <a:endParaRPr lang="en-US" sz="1200" dirty="0"/>
                    </a:p>
                  </a:txBody>
                  <a:tcPr marL="73152" marR="73152" marT="73152" marB="73152">
                    <a:lnL w="12700" cap="flat" cmpd="sng" algn="ctr">
                      <a:solidFill>
                        <a:srgbClr val="2A3C56"/>
                      </a:solidFill>
                      <a:prstDash val="solid"/>
                      <a:round/>
                      <a:headEnd type="none" w="med" len="med"/>
                      <a:tailEnd type="none" w="med" len="med"/>
                    </a:lnL>
                    <a:lnR w="12700" cap="flat" cmpd="sng" algn="ctr">
                      <a:solidFill>
                        <a:srgbClr val="2A3C56"/>
                      </a:solidFill>
                      <a:prstDash val="solid"/>
                      <a:round/>
                      <a:headEnd type="none" w="med" len="med"/>
                      <a:tailEnd type="none" w="med" len="med"/>
                    </a:lnR>
                    <a:lnT w="12700" cap="flat" cmpd="sng" algn="ctr">
                      <a:solidFill>
                        <a:srgbClr val="2A3C56"/>
                      </a:solidFill>
                      <a:prstDash val="solid"/>
                      <a:round/>
                      <a:headEnd type="none" w="med" len="med"/>
                      <a:tailEnd type="none" w="med" len="med"/>
                    </a:lnT>
                    <a:lnB w="12700" cap="flat" cmpd="sng" algn="ctr">
                      <a:solidFill>
                        <a:srgbClr val="2A3C56"/>
                      </a:solidFill>
                      <a:prstDash val="solid"/>
                      <a:round/>
                      <a:headEnd type="none" w="med" len="med"/>
                      <a:tailEnd type="none" w="med" len="med"/>
                    </a:lnB>
                  </a:tcPr>
                </a:tc>
              </a:tr>
              <a:tr h="384048">
                <a:tc>
                  <a:txBody>
                    <a:bodyPr/>
                    <a:lstStyle/>
                    <a:p>
                      <a:pPr indent="0" marL="0">
                        <a:buNone/>
                      </a:pPr>
                      <a:r>
                        <a:rPr lang="en-US" sz="1300" b="1" dirty="0">
                          <a:solidFill>
                            <a:srgbClr val="FFFFFF"/>
                          </a:solidFill>
                        </a:rPr>
                        <a:t>Shaurya Sharma</a:t>
                      </a:r>
                      <a:endParaRPr lang="en-US" sz="1300" dirty="0"/>
                    </a:p>
                  </a:txBody>
                  <a:tcPr marL="73152" marR="73152" marT="73152" marB="73152">
                    <a:lnL w="12700" cap="flat" cmpd="sng" algn="ctr">
                      <a:solidFill>
                        <a:srgbClr val="2A3C56"/>
                      </a:solidFill>
                      <a:prstDash val="solid"/>
                      <a:round/>
                      <a:headEnd type="none" w="med" len="med"/>
                      <a:tailEnd type="none" w="med" len="med"/>
                    </a:lnL>
                    <a:lnR w="12700" cap="flat" cmpd="sng" algn="ctr">
                      <a:solidFill>
                        <a:srgbClr val="2A3C56"/>
                      </a:solidFill>
                      <a:prstDash val="solid"/>
                      <a:round/>
                      <a:headEnd type="none" w="med" len="med"/>
                      <a:tailEnd type="none" w="med" len="med"/>
                    </a:lnR>
                    <a:lnT w="12700" cap="flat" cmpd="sng" algn="ctr">
                      <a:solidFill>
                        <a:srgbClr val="2A3C56"/>
                      </a:solidFill>
                      <a:prstDash val="solid"/>
                      <a:round/>
                      <a:headEnd type="none" w="med" len="med"/>
                      <a:tailEnd type="none" w="med" len="med"/>
                    </a:lnT>
                    <a:lnB w="12700" cap="flat" cmpd="sng" algn="ctr">
                      <a:solidFill>
                        <a:srgbClr val="2A3C56"/>
                      </a:solidFill>
                      <a:prstDash val="solid"/>
                      <a:round/>
                      <a:headEnd type="none" w="med" len="med"/>
                      <a:tailEnd type="none" w="med" len="med"/>
                    </a:lnB>
                  </a:tcPr>
                </a:tc>
                <a:tc>
                  <a:txBody>
                    <a:bodyPr/>
                    <a:lstStyle/>
                    <a:p>
                      <a:pPr indent="0" marL="0">
                        <a:buNone/>
                      </a:pPr>
                      <a:r>
                        <a:rPr lang="en-US" sz="1200" dirty="0">
                          <a:solidFill>
                            <a:srgbClr val="BFD4DE"/>
                          </a:solidFill>
                        </a:rPr>
                        <a:t>Sound — spectrograms, templates, vocoder, synthesis</a:t>
                      </a:r>
                      <a:endParaRPr lang="en-US" sz="1200" dirty="0"/>
                    </a:p>
                  </a:txBody>
                  <a:tcPr marL="73152" marR="73152" marT="73152" marB="73152">
                    <a:lnL w="12700" cap="flat" cmpd="sng" algn="ctr">
                      <a:solidFill>
                        <a:srgbClr val="2A3C56"/>
                      </a:solidFill>
                      <a:prstDash val="solid"/>
                      <a:round/>
                      <a:headEnd type="none" w="med" len="med"/>
                      <a:tailEnd type="none" w="med" len="med"/>
                    </a:lnL>
                    <a:lnR w="12700" cap="flat" cmpd="sng" algn="ctr">
                      <a:solidFill>
                        <a:srgbClr val="2A3C56"/>
                      </a:solidFill>
                      <a:prstDash val="solid"/>
                      <a:round/>
                      <a:headEnd type="none" w="med" len="med"/>
                      <a:tailEnd type="none" w="med" len="med"/>
                    </a:lnR>
                    <a:lnT w="12700" cap="flat" cmpd="sng" algn="ctr">
                      <a:solidFill>
                        <a:srgbClr val="2A3C56"/>
                      </a:solidFill>
                      <a:prstDash val="solid"/>
                      <a:round/>
                      <a:headEnd type="none" w="med" len="med"/>
                      <a:tailEnd type="none" w="med" len="med"/>
                    </a:lnT>
                    <a:lnB w="12700" cap="flat" cmpd="sng" algn="ctr">
                      <a:solidFill>
                        <a:srgbClr val="2A3C56"/>
                      </a:solidFill>
                      <a:prstDash val="solid"/>
                      <a:round/>
                      <a:headEnd type="none" w="med" len="med"/>
                      <a:tailEnd type="none" w="med" len="med"/>
                    </a:lnB>
                  </a:tcPr>
                </a:tc>
              </a:tr>
              <a:tr h="384048">
                <a:tc>
                  <a:txBody>
                    <a:bodyPr/>
                    <a:lstStyle/>
                    <a:p>
                      <a:pPr indent="0" marL="0">
                        <a:buNone/>
                      </a:pPr>
                      <a:r>
                        <a:rPr lang="en-US" sz="1300" b="1" dirty="0">
                          <a:solidFill>
                            <a:srgbClr val="FFFFFF"/>
                          </a:solidFill>
                        </a:rPr>
                        <a:t>Chaitanya Shekhawat</a:t>
                      </a:r>
                      <a:endParaRPr lang="en-US" sz="1300" dirty="0"/>
                    </a:p>
                  </a:txBody>
                  <a:tcPr marL="73152" marR="73152" marT="73152" marB="73152">
                    <a:lnL w="12700" cap="flat" cmpd="sng" algn="ctr">
                      <a:solidFill>
                        <a:srgbClr val="2A3C56"/>
                      </a:solidFill>
                      <a:prstDash val="solid"/>
                      <a:round/>
                      <a:headEnd type="none" w="med" len="med"/>
                      <a:tailEnd type="none" w="med" len="med"/>
                    </a:lnL>
                    <a:lnR w="12700" cap="flat" cmpd="sng" algn="ctr">
                      <a:solidFill>
                        <a:srgbClr val="2A3C56"/>
                      </a:solidFill>
                      <a:prstDash val="solid"/>
                      <a:round/>
                      <a:headEnd type="none" w="med" len="med"/>
                      <a:tailEnd type="none" w="med" len="med"/>
                    </a:lnR>
                    <a:lnT w="12700" cap="flat" cmpd="sng" algn="ctr">
                      <a:solidFill>
                        <a:srgbClr val="2A3C56"/>
                      </a:solidFill>
                      <a:prstDash val="solid"/>
                      <a:round/>
                      <a:headEnd type="none" w="med" len="med"/>
                      <a:tailEnd type="none" w="med" len="med"/>
                    </a:lnT>
                    <a:lnB w="12700" cap="flat" cmpd="sng" algn="ctr">
                      <a:solidFill>
                        <a:srgbClr val="2A3C56"/>
                      </a:solidFill>
                      <a:prstDash val="solid"/>
                      <a:round/>
                      <a:headEnd type="none" w="med" len="med"/>
                      <a:tailEnd type="none" w="med" len="med"/>
                    </a:lnB>
                  </a:tcPr>
                </a:tc>
                <a:tc>
                  <a:txBody>
                    <a:bodyPr/>
                    <a:lstStyle/>
                    <a:p>
                      <a:pPr indent="0" marL="0">
                        <a:buNone/>
                      </a:pPr>
                      <a:r>
                        <a:rPr lang="en-US" sz="1200" dirty="0">
                          <a:solidFill>
                            <a:srgbClr val="BFD4DE"/>
                          </a:solidFill>
                        </a:rPr>
                        <a:t>Evaluation — WER harness, listening study, failure analysis</a:t>
                      </a:r>
                      <a:endParaRPr lang="en-US" sz="1200" dirty="0"/>
                    </a:p>
                  </a:txBody>
                  <a:tcPr marL="73152" marR="73152" marT="73152" marB="73152">
                    <a:lnL w="12700" cap="flat" cmpd="sng" algn="ctr">
                      <a:solidFill>
                        <a:srgbClr val="2A3C56"/>
                      </a:solidFill>
                      <a:prstDash val="solid"/>
                      <a:round/>
                      <a:headEnd type="none" w="med" len="med"/>
                      <a:tailEnd type="none" w="med" len="med"/>
                    </a:lnL>
                    <a:lnR w="12700" cap="flat" cmpd="sng" algn="ctr">
                      <a:solidFill>
                        <a:srgbClr val="2A3C56"/>
                      </a:solidFill>
                      <a:prstDash val="solid"/>
                      <a:round/>
                      <a:headEnd type="none" w="med" len="med"/>
                      <a:tailEnd type="none" w="med" len="med"/>
                    </a:lnR>
                    <a:lnT w="12700" cap="flat" cmpd="sng" algn="ctr">
                      <a:solidFill>
                        <a:srgbClr val="2A3C56"/>
                      </a:solidFill>
                      <a:prstDash val="solid"/>
                      <a:round/>
                      <a:headEnd type="none" w="med" len="med"/>
                      <a:tailEnd type="none" w="med" len="med"/>
                    </a:lnT>
                    <a:lnB w="12700" cap="flat" cmpd="sng" algn="ctr">
                      <a:solidFill>
                        <a:srgbClr val="2A3C56"/>
                      </a:solidFill>
                      <a:prstDash val="solid"/>
                      <a:round/>
                      <a:headEnd type="none" w="med" len="med"/>
                      <a:tailEnd type="none" w="med" len="med"/>
                    </a:lnB>
                  </a:tcPr>
                </a:tc>
              </a:tr>
            </a:tbl>
          </a:graphicData>
        </a:graphic>
      </p:graphicFrame>
      <p:sp>
        <p:nvSpPr>
          <p:cNvPr id="5" name="Text 2"/>
          <p:cNvSpPr txBox="1"/>
          <p:nvPr/>
        </p:nvSpPr>
        <p:spPr>
          <a:xfrm>
            <a:off x="731520" y="5943600"/>
            <a:ext cx="10698480" cy="365760"/>
          </a:xfrm>
          <a:prstGeom prst="rect">
            <a:avLst/>
          </a:prstGeom>
          <a:noFill/>
          <a:ln/>
        </p:spPr>
        <p:txBody>
          <a:bodyPr wrap="square" lIns="0" tIns="0" rIns="0" bIns="0" rtlCol="0" anchor="ctr"/>
          <a:lstStyle/>
          <a:p>
            <a:pPr indent="0" marL="0">
              <a:buNone/>
            </a:pPr>
            <a:r>
              <a:rPr lang="en-US" sz="1100" dirty="0">
                <a:solidFill>
                  <a:srgbClr val="7FB5C9"/>
                </a:solidFill>
              </a:rPr>
              <a:t>Advanced Machine Learning  ·  LJSpeech 1.1 (13,100 clips, 23.9 h, one speaker)  ·  Built on FastSpeech 2 (ICLR 2021)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881360" cy="658368"/>
          </a:xfrm>
          <a:prstGeom prst="rect">
            <a:avLst/>
          </a:prstGeom>
          <a:noFill/>
          <a:ln/>
        </p:spPr>
        <p:txBody>
          <a:bodyPr wrap="square" rtlCol="0"/>
          <a:lstStyle/>
          <a:p>
            <a:pPr algn="l" indent="0" marL="0">
              <a:buNone/>
            </a:pPr>
            <a:r>
              <a:rPr lang="en-US" sz="3200" b="1" dirty="0">
                <a:solidFill>
                  <a:schemeClr val="accent3"/>
                </a:solidFill>
              </a:rPr>
              <a:t>Speech synthesis has to get two separate things right</a:t>
            </a:r>
            <a:endParaRPr lang="en-US" sz="3200" dirty="0"/>
          </a:p>
        </p:txBody>
      </p:sp>
      <p:sp>
        <p:nvSpPr>
          <p:cNvPr id="3" name="cardTiming"/>
          <p:cNvSpPr/>
          <p:nvPr/>
        </p:nvSpPr>
        <p:spPr>
          <a:xfrm>
            <a:off x="640080" y="1325880"/>
            <a:ext cx="5212080" cy="1737360"/>
          </a:xfrm>
          <a:prstGeom prst="roundRect">
            <a:avLst>
              <a:gd name="adj" fmla="val 2632"/>
            </a:avLst>
          </a:prstGeom>
          <a:solidFill>
            <a:schemeClr val="bg2"/>
          </a:solidFill>
          <a:ln w="12700">
            <a:solidFill>
              <a:srgbClr val="D7E3EA"/>
            </a:solidFill>
            <a:prstDash val="solid"/>
          </a:ln>
        </p:spPr>
      </p:sp>
      <p:sp>
        <p:nvSpPr>
          <p:cNvPr id="4" name="dot1"/>
          <p:cNvSpPr/>
          <p:nvPr/>
        </p:nvSpPr>
        <p:spPr>
          <a:xfrm>
            <a:off x="914400" y="1572768"/>
            <a:ext cx="420624" cy="420624"/>
          </a:xfrm>
          <a:prstGeom prst="ellipse">
            <a:avLst/>
          </a:prstGeom>
          <a:solidFill>
            <a:schemeClr val="accent1"/>
          </a:solidFill>
          <a:ln/>
        </p:spPr>
      </p:sp>
      <p:sp>
        <p:nvSpPr>
          <p:cNvPr id="5" name="Text 3"/>
          <p:cNvSpPr txBox="1"/>
          <p:nvPr/>
        </p:nvSpPr>
        <p:spPr>
          <a:xfrm>
            <a:off x="914400" y="1572768"/>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rPr>
              <a:t>1</a:t>
            </a:r>
            <a:endParaRPr lang="en-US" sz="1700" dirty="0"/>
          </a:p>
        </p:txBody>
      </p:sp>
      <p:sp>
        <p:nvSpPr>
          <p:cNvPr id="6" name="Text 4"/>
          <p:cNvSpPr txBox="1"/>
          <p:nvPr/>
        </p:nvSpPr>
        <p:spPr>
          <a:xfrm>
            <a:off x="1463040" y="1591056"/>
            <a:ext cx="4206240" cy="384048"/>
          </a:xfrm>
          <a:prstGeom prst="rect">
            <a:avLst/>
          </a:prstGeom>
          <a:noFill/>
          <a:ln/>
        </p:spPr>
        <p:txBody>
          <a:bodyPr wrap="square" lIns="0" tIns="0" rIns="0" bIns="0" rtlCol="0" anchor="ctr"/>
          <a:lstStyle/>
          <a:p>
            <a:pPr indent="0" marL="0">
              <a:buNone/>
            </a:pPr>
            <a:r>
              <a:rPr lang="en-US" sz="1450" b="1" dirty="0">
                <a:solidFill>
                  <a:schemeClr val="accent3"/>
                </a:solidFill>
              </a:rPr>
              <a:t>TIMING — how long does each sound last?</a:t>
            </a:r>
            <a:endParaRPr lang="en-US" sz="1450" dirty="0"/>
          </a:p>
        </p:txBody>
      </p:sp>
      <p:sp>
        <p:nvSpPr>
          <p:cNvPr id="7" name="Text 5"/>
          <p:cNvSpPr txBox="1"/>
          <p:nvPr/>
        </p:nvSpPr>
        <p:spPr>
          <a:xfrm>
            <a:off x="914400" y="2103120"/>
            <a:ext cx="4663440" cy="822960"/>
          </a:xfrm>
          <a:prstGeom prst="rect">
            <a:avLst/>
          </a:prstGeom>
          <a:noFill/>
          <a:ln/>
        </p:spPr>
        <p:txBody>
          <a:bodyPr wrap="square" lIns="0" tIns="0" rIns="0" bIns="0" rtlCol="0" anchor="ctr"/>
          <a:lstStyle/>
          <a:p>
            <a:pPr indent="0" marL="0">
              <a:buNone/>
            </a:pPr>
            <a:r>
              <a:rPr lang="en-US" sz="1250" dirty="0">
                <a:solidFill>
                  <a:srgbClr val="3A4A58"/>
                </a:solidFill>
              </a:rPr>
              <a:t>In "cat", the sounds K · AE · T are not equal. The vowel is longer. The same sound stretches before a pause and shortens in a fast phrase.</a:t>
            </a:r>
            <a:endParaRPr lang="en-US" sz="1250" dirty="0"/>
          </a:p>
        </p:txBody>
      </p:sp>
      <p:sp>
        <p:nvSpPr>
          <p:cNvPr id="8" name="cardSound"/>
          <p:cNvSpPr/>
          <p:nvPr/>
        </p:nvSpPr>
        <p:spPr>
          <a:xfrm>
            <a:off x="6309360" y="1325880"/>
            <a:ext cx="5212080" cy="1737360"/>
          </a:xfrm>
          <a:prstGeom prst="roundRect">
            <a:avLst>
              <a:gd name="adj" fmla="val 2632"/>
            </a:avLst>
          </a:prstGeom>
          <a:solidFill>
            <a:schemeClr val="bg2"/>
          </a:solidFill>
          <a:ln w="12700">
            <a:solidFill>
              <a:srgbClr val="D7E3EA"/>
            </a:solidFill>
            <a:prstDash val="solid"/>
          </a:ln>
        </p:spPr>
      </p:sp>
      <p:sp>
        <p:nvSpPr>
          <p:cNvPr id="9" name="dot2"/>
          <p:cNvSpPr/>
          <p:nvPr/>
        </p:nvSpPr>
        <p:spPr>
          <a:xfrm>
            <a:off x="6583680" y="1572768"/>
            <a:ext cx="420624" cy="420624"/>
          </a:xfrm>
          <a:prstGeom prst="ellipse">
            <a:avLst/>
          </a:prstGeom>
          <a:solidFill>
            <a:schemeClr val="accent2"/>
          </a:solidFill>
          <a:ln/>
        </p:spPr>
      </p:sp>
      <p:sp>
        <p:nvSpPr>
          <p:cNvPr id="10" name="Text 8"/>
          <p:cNvSpPr txBox="1"/>
          <p:nvPr/>
        </p:nvSpPr>
        <p:spPr>
          <a:xfrm>
            <a:off x="6583680" y="1572768"/>
            <a:ext cx="420624" cy="420624"/>
          </a:xfrm>
          <a:prstGeom prst="rect">
            <a:avLst/>
          </a:prstGeom>
          <a:noFill/>
          <a:ln/>
        </p:spPr>
        <p:txBody>
          <a:bodyPr wrap="square" lIns="0" tIns="0" rIns="0" bIns="0" rtlCol="0" anchor="ctr"/>
          <a:lstStyle/>
          <a:p>
            <a:pPr algn="ctr" indent="0" marL="0">
              <a:buNone/>
            </a:pPr>
            <a:r>
              <a:rPr lang="en-US" sz="1700" b="1" dirty="0">
                <a:solidFill>
                  <a:srgbClr val="FFFFFF"/>
                </a:solidFill>
              </a:rPr>
              <a:t>2</a:t>
            </a:r>
            <a:endParaRPr lang="en-US" sz="1700" dirty="0"/>
          </a:p>
        </p:txBody>
      </p:sp>
      <p:sp>
        <p:nvSpPr>
          <p:cNvPr id="11" name="Text 9"/>
          <p:cNvSpPr txBox="1"/>
          <p:nvPr/>
        </p:nvSpPr>
        <p:spPr>
          <a:xfrm>
            <a:off x="7132320" y="1591056"/>
            <a:ext cx="4206240" cy="384048"/>
          </a:xfrm>
          <a:prstGeom prst="rect">
            <a:avLst/>
          </a:prstGeom>
          <a:noFill/>
          <a:ln/>
        </p:spPr>
        <p:txBody>
          <a:bodyPr wrap="square" lIns="0" tIns="0" rIns="0" bIns="0" rtlCol="0" anchor="ctr"/>
          <a:lstStyle/>
          <a:p>
            <a:pPr indent="0" marL="0">
              <a:buNone/>
            </a:pPr>
            <a:r>
              <a:rPr lang="en-US" sz="1450" b="1" dirty="0">
                <a:solidFill>
                  <a:schemeClr val="accent3"/>
                </a:solidFill>
              </a:rPr>
              <a:t>SOUND — what does each sound sound like?</a:t>
            </a:r>
            <a:endParaRPr lang="en-US" sz="1450" dirty="0"/>
          </a:p>
        </p:txBody>
      </p:sp>
      <p:sp>
        <p:nvSpPr>
          <p:cNvPr id="12" name="Text 10"/>
          <p:cNvSpPr txBox="1"/>
          <p:nvPr/>
        </p:nvSpPr>
        <p:spPr>
          <a:xfrm>
            <a:off x="6583680" y="2103120"/>
            <a:ext cx="4663440" cy="822960"/>
          </a:xfrm>
          <a:prstGeom prst="rect">
            <a:avLst/>
          </a:prstGeom>
          <a:noFill/>
          <a:ln/>
        </p:spPr>
        <p:txBody>
          <a:bodyPr wrap="square" lIns="0" tIns="0" rIns="0" bIns="0" rtlCol="0" anchor="ctr"/>
          <a:lstStyle/>
          <a:p>
            <a:pPr indent="0" marL="0">
              <a:buNone/>
            </a:pPr>
            <a:r>
              <a:rPr lang="en-US" sz="1250" dirty="0">
                <a:solidFill>
                  <a:srgbClr val="3A4A58"/>
                </a:solidFill>
              </a:rPr>
              <a:t>The hiss of S, the ring of AE. The frequency content that makes each phone recognisable.</a:t>
            </a:r>
            <a:endParaRPr lang="en-US" sz="1250" dirty="0"/>
          </a:p>
        </p:txBody>
      </p:sp>
      <p:sp>
        <p:nvSpPr>
          <p:cNvPr id="13" name="Text 11"/>
          <p:cNvSpPr txBox="1"/>
          <p:nvPr/>
        </p:nvSpPr>
        <p:spPr>
          <a:xfrm>
            <a:off x="640080" y="3246120"/>
            <a:ext cx="10881360" cy="457200"/>
          </a:xfrm>
          <a:prstGeom prst="rect">
            <a:avLst/>
          </a:prstGeom>
          <a:noFill/>
          <a:ln/>
        </p:spPr>
        <p:txBody>
          <a:bodyPr wrap="square" lIns="0" tIns="0" rIns="0" bIns="0" rtlCol="0" anchor="ctr"/>
          <a:lstStyle/>
          <a:p>
            <a:pPr indent="0" marL="0">
              <a:buNone/>
            </a:pPr>
            <a:r>
              <a:rPr lang="en-US" sz="1400" b="1" dirty="0">
                <a:solidFill>
                  <a:schemeClr val="accent6"/>
                </a:solidFill>
              </a:rPr>
              <a:t>Modern systems learn both at once inside one neural network. So when the output is wrong, you cannot tell which half is to blame.</a:t>
            </a:r>
            <a:endParaRPr lang="en-US" sz="1400" dirty="0"/>
          </a:p>
        </p:txBody>
      </p:sp>
      <p:sp>
        <p:nvSpPr>
          <p:cNvPr id="14" name="questionBox"/>
          <p:cNvSpPr/>
          <p:nvPr/>
        </p:nvSpPr>
        <p:spPr>
          <a:xfrm>
            <a:off x="640080" y="3886200"/>
            <a:ext cx="10881360" cy="2194560"/>
          </a:xfrm>
          <a:prstGeom prst="roundRect">
            <a:avLst>
              <a:gd name="adj" fmla="val 2083"/>
            </a:avLst>
          </a:prstGeom>
          <a:solidFill>
            <a:schemeClr val="accent3"/>
          </a:solidFill>
          <a:ln/>
        </p:spPr>
      </p:sp>
      <p:sp>
        <p:nvSpPr>
          <p:cNvPr id="15" name="Text 13"/>
          <p:cNvSpPr txBox="1"/>
          <p:nvPr/>
        </p:nvSpPr>
        <p:spPr>
          <a:xfrm>
            <a:off x="1005840" y="4069080"/>
            <a:ext cx="4572000" cy="320040"/>
          </a:xfrm>
          <a:prstGeom prst="rect">
            <a:avLst/>
          </a:prstGeom>
          <a:noFill/>
          <a:ln/>
        </p:spPr>
        <p:txBody>
          <a:bodyPr wrap="square" lIns="0" tIns="0" rIns="0" bIns="0" rtlCol="0" anchor="ctr"/>
          <a:lstStyle/>
          <a:p>
            <a:pPr indent="0" marL="0">
              <a:buNone/>
            </a:pPr>
            <a:r>
              <a:rPr lang="en-US" sz="1250" b="1" dirty="0">
                <a:solidFill>
                  <a:schemeClr val="accent2"/>
                </a:solidFill>
              </a:rPr>
              <a:t>Our question</a:t>
            </a:r>
            <a:endParaRPr lang="en-US" sz="1250" dirty="0"/>
          </a:p>
        </p:txBody>
      </p:sp>
      <p:sp>
        <p:nvSpPr>
          <p:cNvPr id="16" name="Text 14"/>
          <p:cNvSpPr txBox="1"/>
          <p:nvPr/>
        </p:nvSpPr>
        <p:spPr>
          <a:xfrm>
            <a:off x="1005840" y="4370832"/>
            <a:ext cx="10149840" cy="548640"/>
          </a:xfrm>
          <a:prstGeom prst="rect">
            <a:avLst/>
          </a:prstGeom>
          <a:noFill/>
          <a:ln/>
        </p:spPr>
        <p:txBody>
          <a:bodyPr wrap="square" lIns="0" tIns="0" rIns="0" bIns="0" rtlCol="0" anchor="ctr"/>
          <a:lstStyle/>
          <a:p>
            <a:pPr indent="0" marL="0">
              <a:buNone/>
            </a:pPr>
            <a:r>
              <a:rPr lang="en-US" sz="1800" b="1" i="1" dirty="0">
                <a:solidFill>
                  <a:srgbClr val="FFFFFF"/>
                </a:solidFill>
              </a:rPr>
              <a:t>Keep the “sound” half completely fixed, change only where the timing comes from. How much worse does the speech get?</a:t>
            </a:r>
            <a:endParaRPr lang="en-US" sz="1800" dirty="0"/>
          </a:p>
        </p:txBody>
      </p:sp>
      <p:sp>
        <p:nvSpPr>
          <p:cNvPr id="17" name="Text 15"/>
          <p:cNvSpPr txBox="1"/>
          <p:nvPr/>
        </p:nvSpPr>
        <p:spPr>
          <a:xfrm>
            <a:off x="1005840" y="5074920"/>
            <a:ext cx="4846320" cy="365760"/>
          </a:xfrm>
          <a:prstGeom prst="rect">
            <a:avLst/>
          </a:prstGeom>
          <a:noFill/>
          <a:ln/>
        </p:spPr>
        <p:txBody>
          <a:bodyPr wrap="square" lIns="0" tIns="0" rIns="0" bIns="0" rtlCol="0" anchor="ctr"/>
          <a:lstStyle/>
          <a:p>
            <a:pPr indent="0" marL="0">
              <a:buNone/>
            </a:pPr>
            <a:r>
              <a:rPr lang="en-US" sz="1350" b="1" dirty="0">
                <a:solidFill>
                  <a:schemeClr val="accent2"/>
                </a:solidFill>
              </a:rPr>
              <a:t>A1</a:t>
            </a:r>
            <a:pPr indent="0" marL="0">
              <a:buNone/>
            </a:pPr>
            <a:r>
              <a:rPr lang="en-US" sz="1350" dirty="0">
                <a:solidFill>
                  <a:srgbClr val="D8E7EE"/>
                </a:solidFill>
              </a:rPr>
              <a:t>  templates + REAL measured durations</a:t>
            </a:r>
            <a:endParaRPr lang="en-US" sz="1350" dirty="0"/>
          </a:p>
        </p:txBody>
      </p:sp>
      <p:sp>
        <p:nvSpPr>
          <p:cNvPr id="18" name="Text 16"/>
          <p:cNvSpPr txBox="1"/>
          <p:nvPr/>
        </p:nvSpPr>
        <p:spPr>
          <a:xfrm>
            <a:off x="6126480" y="5074920"/>
            <a:ext cx="4846320" cy="365760"/>
          </a:xfrm>
          <a:prstGeom prst="rect">
            <a:avLst/>
          </a:prstGeom>
          <a:noFill/>
          <a:ln/>
        </p:spPr>
        <p:txBody>
          <a:bodyPr wrap="square" lIns="0" tIns="0" rIns="0" bIns="0" rtlCol="0" anchor="ctr"/>
          <a:lstStyle/>
          <a:p>
            <a:pPr indent="0" marL="0">
              <a:buNone/>
            </a:pPr>
            <a:r>
              <a:rPr lang="en-US" sz="1350" b="1" dirty="0">
                <a:solidFill>
                  <a:schemeClr val="accent2"/>
                </a:solidFill>
              </a:rPr>
              <a:t>A2</a:t>
            </a:r>
            <a:pPr indent="0" marL="0">
              <a:buNone/>
            </a:pPr>
            <a:r>
              <a:rPr lang="en-US" sz="1350" dirty="0">
                <a:solidFill>
                  <a:srgbClr val="D8E7EE"/>
                </a:solidFill>
              </a:rPr>
              <a:t>  templates + PREDICTED durations</a:t>
            </a:r>
            <a:endParaRPr lang="en-US" sz="1350" dirty="0"/>
          </a:p>
        </p:txBody>
      </p:sp>
      <p:sp>
        <p:nvSpPr>
          <p:cNvPr id="19" name="Text 17"/>
          <p:cNvSpPr txBox="1"/>
          <p:nvPr/>
        </p:nvSpPr>
        <p:spPr>
          <a:xfrm>
            <a:off x="1005840" y="5486400"/>
            <a:ext cx="10149840" cy="365760"/>
          </a:xfrm>
          <a:prstGeom prst="rect">
            <a:avLst/>
          </a:prstGeom>
          <a:noFill/>
          <a:ln/>
        </p:spPr>
        <p:txBody>
          <a:bodyPr wrap="square" lIns="0" tIns="0" rIns="0" bIns="0" rtlCol="0" anchor="ctr"/>
          <a:lstStyle/>
          <a:p>
            <a:pPr indent="0" marL="0">
              <a:buNone/>
            </a:pPr>
            <a:r>
              <a:rPr lang="en-US" sz="1200" dirty="0">
                <a:solidFill>
                  <a:srgbClr val="AECBD8"/>
                </a:solidFill>
              </a:rPr>
              <a:t>Everything else is identical, so the gap between A1 and A2 is caused by duration error and nothing else.</a:t>
            </a:r>
            <a:endParaRPr lang="en-US" sz="1200" dirty="0"/>
          </a:p>
        </p:txBody>
      </p:sp>
      <p:sp>
        <p:nvSpPr>
          <p:cNvPr id="25" name="Slide Number Placeholder 0"/>
          <p:cNvSpPr>
            <a:spLocks noGrp="1"/>
          </p:cNvSpPr>
          <p:nvPr>
            <p:ph type="sldNum" sz="quarter" idx="4294967295"/>
          </p:nvPr>
        </p:nvSpPr>
        <p:spPr>
          <a:xfrm>
            <a:off x="113842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7B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881360" cy="658368"/>
          </a:xfrm>
          <a:prstGeom prst="rect">
            <a:avLst/>
          </a:prstGeom>
          <a:noFill/>
          <a:ln/>
        </p:spPr>
        <p:txBody>
          <a:bodyPr wrap="square" rtlCol="0"/>
          <a:lstStyle/>
          <a:p>
            <a:pPr algn="l" indent="0" marL="0">
              <a:buNone/>
            </a:pPr>
            <a:r>
              <a:rPr lang="en-US" sz="3200" b="1" dirty="0">
                <a:solidFill>
                  <a:schemeClr val="accent3"/>
                </a:solidFill>
              </a:rPr>
              <a:t>The pipeline: five steps</a:t>
            </a:r>
            <a:endParaRPr lang="en-US" sz="3200" dirty="0"/>
          </a:p>
        </p:txBody>
      </p:sp>
      <p:sp>
        <p:nvSpPr>
          <p:cNvPr id="3" name="st1"/>
          <p:cNvSpPr/>
          <p:nvPr/>
        </p:nvSpPr>
        <p:spPr>
          <a:xfrm>
            <a:off x="658368" y="1207008"/>
            <a:ext cx="292608" cy="292608"/>
          </a:xfrm>
          <a:prstGeom prst="ellipse">
            <a:avLst/>
          </a:prstGeom>
          <a:solidFill>
            <a:schemeClr val="accent1"/>
          </a:solidFill>
          <a:ln/>
        </p:spPr>
      </p:sp>
      <p:sp>
        <p:nvSpPr>
          <p:cNvPr id="4" name="Text 2"/>
          <p:cNvSpPr txBox="1"/>
          <p:nvPr/>
        </p:nvSpPr>
        <p:spPr>
          <a:xfrm>
            <a:off x="658368" y="120700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5" name="Text 3"/>
          <p:cNvSpPr txBox="1"/>
          <p:nvPr/>
        </p:nvSpPr>
        <p:spPr>
          <a:xfrm>
            <a:off x="1078992" y="1188720"/>
            <a:ext cx="1828800" cy="310896"/>
          </a:xfrm>
          <a:prstGeom prst="rect">
            <a:avLst/>
          </a:prstGeom>
          <a:noFill/>
          <a:ln/>
        </p:spPr>
        <p:txBody>
          <a:bodyPr wrap="square" lIns="0" tIns="0" rIns="0" bIns="0" rtlCol="0" anchor="ctr"/>
          <a:lstStyle/>
          <a:p>
            <a:pPr indent="0" marL="0">
              <a:buNone/>
            </a:pPr>
            <a:r>
              <a:rPr lang="en-US" sz="1250" b="1" dirty="0">
                <a:solidFill>
                  <a:schemeClr val="accent3"/>
                </a:solidFill>
              </a:rPr>
              <a:t>Clean the text</a:t>
            </a:r>
            <a:endParaRPr lang="en-US" sz="1250" dirty="0"/>
          </a:p>
        </p:txBody>
      </p:sp>
      <p:sp>
        <p:nvSpPr>
          <p:cNvPr id="6" name="Text 4"/>
          <p:cNvSpPr txBox="1"/>
          <p:nvPr/>
        </p:nvSpPr>
        <p:spPr>
          <a:xfrm>
            <a:off x="2926080" y="1216152"/>
            <a:ext cx="2377440" cy="292608"/>
          </a:xfrm>
          <a:prstGeom prst="rect">
            <a:avLst/>
          </a:prstGeom>
          <a:noFill/>
          <a:ln/>
        </p:spPr>
        <p:txBody>
          <a:bodyPr wrap="square" lIns="0" tIns="0" rIns="0" bIns="0" rtlCol="0" anchor="ctr"/>
          <a:lstStyle/>
          <a:p>
            <a:pPr indent="0" marL="0">
              <a:buNone/>
            </a:pPr>
            <a:r>
              <a:rPr lang="en-US" sz="1100" dirty="0">
                <a:solidFill>
                  <a:srgbClr val="3A4A58"/>
                </a:solidFill>
              </a:rPr>
              <a:t>spell out numbers, strip punctuation</a:t>
            </a:r>
            <a:endParaRPr lang="en-US" sz="1100" dirty="0"/>
          </a:p>
        </p:txBody>
      </p:sp>
      <p:sp>
        <p:nvSpPr>
          <p:cNvPr id="7" name="Text 5"/>
          <p:cNvSpPr txBox="1"/>
          <p:nvPr/>
        </p:nvSpPr>
        <p:spPr>
          <a:xfrm>
            <a:off x="5349240" y="1216152"/>
            <a:ext cx="2103120" cy="292608"/>
          </a:xfrm>
          <a:prstGeom prst="rect">
            <a:avLst/>
          </a:prstGeom>
          <a:noFill/>
          <a:ln/>
        </p:spPr>
        <p:txBody>
          <a:bodyPr wrap="square" lIns="0" tIns="0" rIns="0" bIns="0" rtlCol="0" anchor="ctr"/>
          <a:lstStyle/>
          <a:p>
            <a:pPr indent="0" marL="0">
              <a:buNone/>
            </a:pPr>
            <a:r>
              <a:rPr lang="en-US" sz="1100" b="1" dirty="0">
                <a:solidFill>
                  <a:schemeClr val="accent1"/>
                </a:solidFill>
              </a:rPr>
              <a:t>0 digits left in 13,100 clips</a:t>
            </a:r>
            <a:endParaRPr lang="en-US" sz="1100" dirty="0"/>
          </a:p>
        </p:txBody>
      </p:sp>
      <p:sp>
        <p:nvSpPr>
          <p:cNvPr id="8" name="st2"/>
          <p:cNvSpPr/>
          <p:nvPr/>
        </p:nvSpPr>
        <p:spPr>
          <a:xfrm>
            <a:off x="658368" y="1627632"/>
            <a:ext cx="292608" cy="292608"/>
          </a:xfrm>
          <a:prstGeom prst="ellipse">
            <a:avLst/>
          </a:prstGeom>
          <a:solidFill>
            <a:schemeClr val="accent1"/>
          </a:solidFill>
          <a:ln/>
        </p:spPr>
      </p:sp>
      <p:sp>
        <p:nvSpPr>
          <p:cNvPr id="9" name="Text 7"/>
          <p:cNvSpPr txBox="1"/>
          <p:nvPr/>
        </p:nvSpPr>
        <p:spPr>
          <a:xfrm>
            <a:off x="658368" y="162763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0" name="Text 8"/>
          <p:cNvSpPr txBox="1"/>
          <p:nvPr/>
        </p:nvSpPr>
        <p:spPr>
          <a:xfrm>
            <a:off x="1078992" y="1609344"/>
            <a:ext cx="1828800" cy="310896"/>
          </a:xfrm>
          <a:prstGeom prst="rect">
            <a:avLst/>
          </a:prstGeom>
          <a:noFill/>
          <a:ln/>
        </p:spPr>
        <p:txBody>
          <a:bodyPr wrap="square" lIns="0" tIns="0" rIns="0" bIns="0" rtlCol="0" anchor="ctr"/>
          <a:lstStyle/>
          <a:p>
            <a:pPr indent="0" marL="0">
              <a:buNone/>
            </a:pPr>
            <a:r>
              <a:rPr lang="en-US" sz="1250" b="1" dirty="0">
                <a:solidFill>
                  <a:schemeClr val="accent3"/>
                </a:solidFill>
              </a:rPr>
              <a:t>Align</a:t>
            </a:r>
            <a:endParaRPr lang="en-US" sz="1250" dirty="0"/>
          </a:p>
        </p:txBody>
      </p:sp>
      <p:sp>
        <p:nvSpPr>
          <p:cNvPr id="11" name="Text 9"/>
          <p:cNvSpPr txBox="1"/>
          <p:nvPr/>
        </p:nvSpPr>
        <p:spPr>
          <a:xfrm>
            <a:off x="2926080" y="1636776"/>
            <a:ext cx="2377440" cy="292608"/>
          </a:xfrm>
          <a:prstGeom prst="rect">
            <a:avLst/>
          </a:prstGeom>
          <a:noFill/>
          <a:ln/>
        </p:spPr>
        <p:txBody>
          <a:bodyPr wrap="square" lIns="0" tIns="0" rIns="0" bIns="0" rtlCol="0" anchor="ctr"/>
          <a:lstStyle/>
          <a:p>
            <a:pPr indent="0" marL="0">
              <a:buNone/>
            </a:pPr>
            <a:r>
              <a:rPr lang="en-US" sz="1100" dirty="0">
                <a:solidFill>
                  <a:srgbClr val="3A4A58"/>
                </a:solidFill>
              </a:rPr>
              <a:t>find where every sound starts and ends</a:t>
            </a:r>
            <a:endParaRPr lang="en-US" sz="1100" dirty="0"/>
          </a:p>
        </p:txBody>
      </p:sp>
      <p:sp>
        <p:nvSpPr>
          <p:cNvPr id="12" name="Text 10"/>
          <p:cNvSpPr txBox="1"/>
          <p:nvPr/>
        </p:nvSpPr>
        <p:spPr>
          <a:xfrm>
            <a:off x="5349240" y="1636776"/>
            <a:ext cx="2103120" cy="292608"/>
          </a:xfrm>
          <a:prstGeom prst="rect">
            <a:avLst/>
          </a:prstGeom>
          <a:noFill/>
          <a:ln/>
        </p:spPr>
        <p:txBody>
          <a:bodyPr wrap="square" lIns="0" tIns="0" rIns="0" bIns="0" rtlCol="0" anchor="ctr"/>
          <a:lstStyle/>
          <a:p>
            <a:pPr indent="0" marL="0">
              <a:buNone/>
            </a:pPr>
            <a:r>
              <a:rPr lang="en-US" sz="1100" b="1" dirty="0">
                <a:solidFill>
                  <a:schemeClr val="accent1"/>
                </a:solidFill>
              </a:rPr>
              <a:t>949,856 phones, 70 types</a:t>
            </a:r>
            <a:endParaRPr lang="en-US" sz="1100" dirty="0"/>
          </a:p>
        </p:txBody>
      </p:sp>
      <p:sp>
        <p:nvSpPr>
          <p:cNvPr id="13" name="st3"/>
          <p:cNvSpPr/>
          <p:nvPr/>
        </p:nvSpPr>
        <p:spPr>
          <a:xfrm>
            <a:off x="658368" y="2048256"/>
            <a:ext cx="292608" cy="292608"/>
          </a:xfrm>
          <a:prstGeom prst="ellipse">
            <a:avLst/>
          </a:prstGeom>
          <a:solidFill>
            <a:schemeClr val="accent1"/>
          </a:solidFill>
          <a:ln/>
        </p:spPr>
      </p:sp>
      <p:sp>
        <p:nvSpPr>
          <p:cNvPr id="14" name="Text 12"/>
          <p:cNvSpPr txBox="1"/>
          <p:nvPr/>
        </p:nvSpPr>
        <p:spPr>
          <a:xfrm>
            <a:off x="658368" y="204825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5" name="Text 13"/>
          <p:cNvSpPr txBox="1"/>
          <p:nvPr/>
        </p:nvSpPr>
        <p:spPr>
          <a:xfrm>
            <a:off x="1078992" y="2029968"/>
            <a:ext cx="1828800" cy="310896"/>
          </a:xfrm>
          <a:prstGeom prst="rect">
            <a:avLst/>
          </a:prstGeom>
          <a:noFill/>
          <a:ln/>
        </p:spPr>
        <p:txBody>
          <a:bodyPr wrap="square" lIns="0" tIns="0" rIns="0" bIns="0" rtlCol="0" anchor="ctr"/>
          <a:lstStyle/>
          <a:p>
            <a:pPr indent="0" marL="0">
              <a:buNone/>
            </a:pPr>
            <a:r>
              <a:rPr lang="en-US" sz="1250" b="1" dirty="0">
                <a:solidFill>
                  <a:schemeClr val="accent3"/>
                </a:solidFill>
              </a:rPr>
              <a:t>Spectrograms</a:t>
            </a:r>
            <a:endParaRPr lang="en-US" sz="1250" dirty="0"/>
          </a:p>
        </p:txBody>
      </p:sp>
      <p:sp>
        <p:nvSpPr>
          <p:cNvPr id="16" name="Text 14"/>
          <p:cNvSpPr txBox="1"/>
          <p:nvPr/>
        </p:nvSpPr>
        <p:spPr>
          <a:xfrm>
            <a:off x="2926080" y="2057400"/>
            <a:ext cx="2377440" cy="292608"/>
          </a:xfrm>
          <a:prstGeom prst="rect">
            <a:avLst/>
          </a:prstGeom>
          <a:noFill/>
          <a:ln/>
        </p:spPr>
        <p:txBody>
          <a:bodyPr wrap="square" lIns="0" tIns="0" rIns="0" bIns="0" rtlCol="0" anchor="ctr"/>
          <a:lstStyle/>
          <a:p>
            <a:pPr indent="0" marL="0">
              <a:buNone/>
            </a:pPr>
            <a:r>
              <a:rPr lang="en-US" sz="1100" dirty="0">
                <a:solidFill>
                  <a:srgbClr val="3A4A58"/>
                </a:solidFill>
              </a:rPr>
              <a:t>turn audio into 80-band pictures</a:t>
            </a:r>
            <a:endParaRPr lang="en-US" sz="1100" dirty="0"/>
          </a:p>
        </p:txBody>
      </p:sp>
      <p:sp>
        <p:nvSpPr>
          <p:cNvPr id="17" name="Text 15"/>
          <p:cNvSpPr txBox="1"/>
          <p:nvPr/>
        </p:nvSpPr>
        <p:spPr>
          <a:xfrm>
            <a:off x="5349240" y="2057400"/>
            <a:ext cx="2103120" cy="292608"/>
          </a:xfrm>
          <a:prstGeom prst="rect">
            <a:avLst/>
          </a:prstGeom>
          <a:noFill/>
          <a:ln/>
        </p:spPr>
        <p:txBody>
          <a:bodyPr wrap="square" lIns="0" tIns="0" rIns="0" bIns="0" rtlCol="0" anchor="ctr"/>
          <a:lstStyle/>
          <a:p>
            <a:pPr indent="0" marL="0">
              <a:buNone/>
            </a:pPr>
            <a:r>
              <a:rPr lang="en-US" sz="1100" b="1" dirty="0">
                <a:solidFill>
                  <a:schemeClr val="accent1"/>
                </a:solidFill>
              </a:rPr>
              <a:t>1 frame = 11.61 ms</a:t>
            </a:r>
            <a:endParaRPr lang="en-US" sz="1100" dirty="0"/>
          </a:p>
        </p:txBody>
      </p:sp>
      <p:sp>
        <p:nvSpPr>
          <p:cNvPr id="18" name="st4"/>
          <p:cNvSpPr/>
          <p:nvPr/>
        </p:nvSpPr>
        <p:spPr>
          <a:xfrm>
            <a:off x="658368" y="2468880"/>
            <a:ext cx="292608" cy="292608"/>
          </a:xfrm>
          <a:prstGeom prst="ellipse">
            <a:avLst/>
          </a:prstGeom>
          <a:solidFill>
            <a:schemeClr val="accent1"/>
          </a:solidFill>
          <a:ln/>
        </p:spPr>
      </p:sp>
      <p:sp>
        <p:nvSpPr>
          <p:cNvPr id="19" name="Text 17"/>
          <p:cNvSpPr txBox="1"/>
          <p:nvPr/>
        </p:nvSpPr>
        <p:spPr>
          <a:xfrm>
            <a:off x="658368" y="2468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0" name="Text 18"/>
          <p:cNvSpPr txBox="1"/>
          <p:nvPr/>
        </p:nvSpPr>
        <p:spPr>
          <a:xfrm>
            <a:off x="1078992" y="2450592"/>
            <a:ext cx="1828800" cy="310896"/>
          </a:xfrm>
          <a:prstGeom prst="rect">
            <a:avLst/>
          </a:prstGeom>
          <a:noFill/>
          <a:ln/>
        </p:spPr>
        <p:txBody>
          <a:bodyPr wrap="square" lIns="0" tIns="0" rIns="0" bIns="0" rtlCol="0" anchor="ctr"/>
          <a:lstStyle/>
          <a:p>
            <a:pPr indent="0" marL="0">
              <a:buNone/>
            </a:pPr>
            <a:r>
              <a:rPr lang="en-US" sz="1250" b="1" dirty="0">
                <a:solidFill>
                  <a:schemeClr val="accent3"/>
                </a:solidFill>
              </a:rPr>
              <a:t>Predict durations</a:t>
            </a:r>
            <a:endParaRPr lang="en-US" sz="1250" dirty="0"/>
          </a:p>
        </p:txBody>
      </p:sp>
      <p:sp>
        <p:nvSpPr>
          <p:cNvPr id="21" name="Text 19"/>
          <p:cNvSpPr txBox="1"/>
          <p:nvPr/>
        </p:nvSpPr>
        <p:spPr>
          <a:xfrm>
            <a:off x="2926080" y="2478024"/>
            <a:ext cx="2377440" cy="292608"/>
          </a:xfrm>
          <a:prstGeom prst="rect">
            <a:avLst/>
          </a:prstGeom>
          <a:noFill/>
          <a:ln/>
        </p:spPr>
        <p:txBody>
          <a:bodyPr wrap="square" lIns="0" tIns="0" rIns="0" bIns="0" rtlCol="0" anchor="ctr"/>
          <a:lstStyle/>
          <a:p>
            <a:pPr indent="0" marL="0">
              <a:buNone/>
            </a:pPr>
            <a:r>
              <a:rPr lang="en-US" sz="1100" dirty="0">
                <a:solidFill>
                  <a:srgbClr val="3A4A58"/>
                </a:solidFill>
              </a:rPr>
              <a:t>the machine-learning part</a:t>
            </a:r>
            <a:endParaRPr lang="en-US" sz="1100" dirty="0"/>
          </a:p>
        </p:txBody>
      </p:sp>
      <p:sp>
        <p:nvSpPr>
          <p:cNvPr id="22" name="Text 20"/>
          <p:cNvSpPr txBox="1"/>
          <p:nvPr/>
        </p:nvSpPr>
        <p:spPr>
          <a:xfrm>
            <a:off x="5349240" y="2478024"/>
            <a:ext cx="2103120" cy="292608"/>
          </a:xfrm>
          <a:prstGeom prst="rect">
            <a:avLst/>
          </a:prstGeom>
          <a:noFill/>
          <a:ln/>
        </p:spPr>
        <p:txBody>
          <a:bodyPr wrap="square" lIns="0" tIns="0" rIns="0" bIns="0" rtlCol="0" anchor="ctr"/>
          <a:lstStyle/>
          <a:p>
            <a:pPr indent="0" marL="0">
              <a:buNone/>
            </a:pPr>
            <a:r>
              <a:rPr lang="en-US" sz="1100" b="1" dirty="0">
                <a:solidFill>
                  <a:schemeClr val="accent1"/>
                </a:solidFill>
              </a:rPr>
              <a:t>905,833 training examples</a:t>
            </a:r>
            <a:endParaRPr lang="en-US" sz="1100" dirty="0"/>
          </a:p>
        </p:txBody>
      </p:sp>
      <p:sp>
        <p:nvSpPr>
          <p:cNvPr id="23" name="st5"/>
          <p:cNvSpPr/>
          <p:nvPr/>
        </p:nvSpPr>
        <p:spPr>
          <a:xfrm>
            <a:off x="658368" y="2889504"/>
            <a:ext cx="292608" cy="292608"/>
          </a:xfrm>
          <a:prstGeom prst="ellipse">
            <a:avLst/>
          </a:prstGeom>
          <a:solidFill>
            <a:schemeClr val="accent1"/>
          </a:solidFill>
          <a:ln/>
        </p:spPr>
      </p:sp>
      <p:sp>
        <p:nvSpPr>
          <p:cNvPr id="24" name="Text 22"/>
          <p:cNvSpPr txBox="1"/>
          <p:nvPr/>
        </p:nvSpPr>
        <p:spPr>
          <a:xfrm>
            <a:off x="658368" y="288950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25" name="Text 23"/>
          <p:cNvSpPr txBox="1"/>
          <p:nvPr/>
        </p:nvSpPr>
        <p:spPr>
          <a:xfrm>
            <a:off x="1078992" y="2871216"/>
            <a:ext cx="1828800" cy="310896"/>
          </a:xfrm>
          <a:prstGeom prst="rect">
            <a:avLst/>
          </a:prstGeom>
          <a:noFill/>
          <a:ln/>
        </p:spPr>
        <p:txBody>
          <a:bodyPr wrap="square" lIns="0" tIns="0" rIns="0" bIns="0" rtlCol="0" anchor="ctr"/>
          <a:lstStyle/>
          <a:p>
            <a:pPr indent="0" marL="0">
              <a:buNone/>
            </a:pPr>
            <a:r>
              <a:rPr lang="en-US" sz="1250" b="1" dirty="0">
                <a:solidFill>
                  <a:schemeClr val="accent3"/>
                </a:solidFill>
              </a:rPr>
              <a:t>Rebuild audio</a:t>
            </a:r>
            <a:endParaRPr lang="en-US" sz="1250" dirty="0"/>
          </a:p>
        </p:txBody>
      </p:sp>
      <p:sp>
        <p:nvSpPr>
          <p:cNvPr id="26" name="Text 24"/>
          <p:cNvSpPr txBox="1"/>
          <p:nvPr/>
        </p:nvSpPr>
        <p:spPr>
          <a:xfrm>
            <a:off x="2926080" y="2898648"/>
            <a:ext cx="2377440" cy="292608"/>
          </a:xfrm>
          <a:prstGeom prst="rect">
            <a:avLst/>
          </a:prstGeom>
          <a:noFill/>
          <a:ln/>
        </p:spPr>
        <p:txBody>
          <a:bodyPr wrap="square" lIns="0" tIns="0" rIns="0" bIns="0" rtlCol="0" anchor="ctr"/>
          <a:lstStyle/>
          <a:p>
            <a:pPr indent="0" marL="0">
              <a:buNone/>
            </a:pPr>
            <a:r>
              <a:rPr lang="en-US" sz="1100" dirty="0">
                <a:solidFill>
                  <a:srgbClr val="3A4A58"/>
                </a:solidFill>
              </a:rPr>
              <a:t>phoneme templates + vocoder</a:t>
            </a:r>
            <a:endParaRPr lang="en-US" sz="1100" dirty="0"/>
          </a:p>
        </p:txBody>
      </p:sp>
      <p:sp>
        <p:nvSpPr>
          <p:cNvPr id="27" name="Text 25"/>
          <p:cNvSpPr txBox="1"/>
          <p:nvPr/>
        </p:nvSpPr>
        <p:spPr>
          <a:xfrm>
            <a:off x="5349240" y="2898648"/>
            <a:ext cx="2103120" cy="292608"/>
          </a:xfrm>
          <a:prstGeom prst="rect">
            <a:avLst/>
          </a:prstGeom>
          <a:noFill/>
          <a:ln/>
        </p:spPr>
        <p:txBody>
          <a:bodyPr wrap="square" lIns="0" tIns="0" rIns="0" bIns="0" rtlCol="0" anchor="ctr"/>
          <a:lstStyle/>
          <a:p>
            <a:pPr indent="0" marL="0">
              <a:buNone/>
            </a:pPr>
            <a:r>
              <a:rPr lang="en-US" sz="1100" b="1" dirty="0">
                <a:solidFill>
                  <a:schemeClr val="accent1"/>
                </a:solidFill>
              </a:rPr>
              <a:t>100 clips x 3 systems</a:t>
            </a:r>
            <a:endParaRPr lang="en-US" sz="1100" dirty="0"/>
          </a:p>
        </p:txBody>
      </p:sp>
      <p:sp>
        <p:nvSpPr>
          <p:cNvPr id="28" name="Text 26"/>
          <p:cNvSpPr txBox="1"/>
          <p:nvPr/>
        </p:nvSpPr>
        <p:spPr>
          <a:xfrm>
            <a:off x="658368" y="3474720"/>
            <a:ext cx="6766560" cy="320040"/>
          </a:xfrm>
          <a:prstGeom prst="rect">
            <a:avLst/>
          </a:prstGeom>
          <a:noFill/>
          <a:ln/>
        </p:spPr>
        <p:txBody>
          <a:bodyPr wrap="square" lIns="0" tIns="0" rIns="0" bIns="0" rtlCol="0" anchor="ctr"/>
          <a:lstStyle/>
          <a:p>
            <a:pPr indent="0" marL="0">
              <a:buNone/>
            </a:pPr>
            <a:r>
              <a:rPr lang="en-US" sz="1400" b="1" dirty="0">
                <a:solidFill>
                  <a:schemeClr val="accent1"/>
                </a:solidFill>
              </a:rPr>
              <a:t>Is the alignment trustworthy? We tested it against a control</a:t>
            </a:r>
            <a:endParaRPr lang="en-US" sz="1400" dirty="0"/>
          </a:p>
        </p:txBody>
      </p:sp>
      <p:sp>
        <p:nvSpPr>
          <p:cNvPr id="29" name="Text 27"/>
          <p:cNvSpPr txBox="1"/>
          <p:nvPr/>
        </p:nvSpPr>
        <p:spPr>
          <a:xfrm>
            <a:off x="658368" y="3840480"/>
            <a:ext cx="6766560" cy="457200"/>
          </a:xfrm>
          <a:prstGeom prst="rect">
            <a:avLst/>
          </a:prstGeom>
          <a:noFill/>
          <a:ln/>
        </p:spPr>
        <p:txBody>
          <a:bodyPr wrap="square" lIns="0" tIns="0" rIns="0" bIns="0" rtlCol="0" anchor="ctr"/>
          <a:lstStyle/>
          <a:p>
            <a:pPr indent="0" marL="0">
              <a:buNone/>
            </a:pPr>
            <a:r>
              <a:rPr lang="en-US" sz="2800" b="1" dirty="0">
                <a:solidFill>
                  <a:srgbClr val="02C39A"/>
                </a:solidFill>
              </a:rPr>
              <a:t>94.6%</a:t>
            </a:r>
            <a:pPr indent="0" marL="0">
              <a:buNone/>
            </a:pPr>
            <a:r>
              <a:rPr lang="en-US" sz="1250" dirty="0">
                <a:solidFill>
                  <a:srgbClr val="3A4A58"/>
                </a:solidFill>
              </a:rPr>
              <a:t>   of phone boundaries land where the loudness changes</a:t>
            </a:r>
            <a:endParaRPr lang="en-US" sz="2800" dirty="0"/>
          </a:p>
        </p:txBody>
      </p:sp>
      <p:sp>
        <p:nvSpPr>
          <p:cNvPr id="30" name="Text 28"/>
          <p:cNvSpPr txBox="1"/>
          <p:nvPr/>
        </p:nvSpPr>
        <p:spPr>
          <a:xfrm>
            <a:off x="658368" y="4370832"/>
            <a:ext cx="6766560" cy="457200"/>
          </a:xfrm>
          <a:prstGeom prst="rect">
            <a:avLst/>
          </a:prstGeom>
          <a:noFill/>
          <a:ln/>
        </p:spPr>
        <p:txBody>
          <a:bodyPr wrap="square" lIns="0" tIns="0" rIns="0" bIns="0" rtlCol="0" anchor="ctr"/>
          <a:lstStyle/>
          <a:p>
            <a:pPr indent="0" marL="0">
              <a:buNone/>
            </a:pPr>
            <a:r>
              <a:rPr lang="en-US" sz="2800" b="1" dirty="0">
                <a:solidFill>
                  <a:srgbClr val="B85042"/>
                </a:solidFill>
              </a:rPr>
              <a:t>53.7%</a:t>
            </a:r>
            <a:pPr indent="0" marL="0">
              <a:buNone/>
            </a:pPr>
            <a:r>
              <a:rPr lang="en-US" sz="1250" dirty="0">
                <a:solidFill>
                  <a:srgbClr val="3A4A58"/>
                </a:solidFill>
              </a:rPr>
              <a:t>   same test, boundaries shifted 5 frames on purpose</a:t>
            </a:r>
            <a:endParaRPr lang="en-US" sz="2800" dirty="0"/>
          </a:p>
        </p:txBody>
      </p:sp>
      <p:sp>
        <p:nvSpPr>
          <p:cNvPr id="31" name="Text 29"/>
          <p:cNvSpPr txBox="1"/>
          <p:nvPr/>
        </p:nvSpPr>
        <p:spPr>
          <a:xfrm>
            <a:off x="658368" y="4892040"/>
            <a:ext cx="6766560" cy="731520"/>
          </a:xfrm>
          <a:prstGeom prst="rect">
            <a:avLst/>
          </a:prstGeom>
          <a:noFill/>
          <a:ln/>
        </p:spPr>
        <p:txBody>
          <a:bodyPr wrap="square" lIns="0" tIns="0" rIns="0" bIns="0" rtlCol="0" anchor="ctr"/>
          <a:lstStyle/>
          <a:p>
            <a:pPr indent="0" marL="0">
              <a:buNone/>
            </a:pPr>
            <a:r>
              <a:rPr lang="en-US" sz="1100" i="1" dirty="0">
                <a:solidFill>
                  <a:srgbClr val="6B7A88"/>
                </a:solidFill>
              </a:rPr>
              <a:t>53.7% is what a broken aligner scores. The gap is why everything downstream rests on something real.</a:t>
            </a:r>
            <a:endParaRPr lang="en-US" sz="1100" dirty="0"/>
          </a:p>
          <a:p>
            <a:pPr indent="0" marL="0">
              <a:buNone/>
            </a:pPr>
            <a:r>
              <a:rPr lang="en-US" sz="1100" i="1" dirty="0">
                <a:solidFill>
                  <a:srgbClr val="6B7A88"/>
                </a:solidFill>
              </a:rPr>
              <a:t>It also rediscovered a known fact we never encoded: stressed vowels 108 ms vs 67 ms unstressed.</a:t>
            </a:r>
            <a:endParaRPr lang="en-US" sz="1100" dirty="0"/>
          </a:p>
        </p:txBody>
      </p:sp>
      <p:sp>
        <p:nvSpPr>
          <p:cNvPr id="32" name="dataCard"/>
          <p:cNvSpPr/>
          <p:nvPr/>
        </p:nvSpPr>
        <p:spPr>
          <a:xfrm>
            <a:off x="7772400" y="1188720"/>
            <a:ext cx="3749040" cy="4434840"/>
          </a:xfrm>
          <a:prstGeom prst="roundRect">
            <a:avLst>
              <a:gd name="adj" fmla="val 1220"/>
            </a:avLst>
          </a:prstGeom>
          <a:solidFill>
            <a:schemeClr val="bg2"/>
          </a:solidFill>
          <a:ln w="12700">
            <a:solidFill>
              <a:srgbClr val="D7E3EA"/>
            </a:solidFill>
            <a:prstDash val="solid"/>
          </a:ln>
        </p:spPr>
      </p:sp>
      <p:sp>
        <p:nvSpPr>
          <p:cNvPr id="33" name="Text 31"/>
          <p:cNvSpPr txBox="1"/>
          <p:nvPr/>
        </p:nvSpPr>
        <p:spPr>
          <a:xfrm>
            <a:off x="8046720" y="1371600"/>
            <a:ext cx="3200400" cy="310896"/>
          </a:xfrm>
          <a:prstGeom prst="rect">
            <a:avLst/>
          </a:prstGeom>
          <a:noFill/>
          <a:ln/>
        </p:spPr>
        <p:txBody>
          <a:bodyPr wrap="square" lIns="0" tIns="0" rIns="0" bIns="0" rtlCol="0" anchor="ctr"/>
          <a:lstStyle/>
          <a:p>
            <a:pPr indent="0" marL="0">
              <a:buNone/>
            </a:pPr>
            <a:r>
              <a:rPr lang="en-US" sz="1350" b="1" dirty="0">
                <a:solidFill>
                  <a:schemeClr val="accent3"/>
                </a:solidFill>
              </a:rPr>
              <a:t>The data</a:t>
            </a:r>
            <a:endParaRPr lang="en-US" sz="1350" dirty="0"/>
          </a:p>
        </p:txBody>
      </p:sp>
      <p:graphicFrame>
        <p:nvGraphicFramePr>
          <p:cNvPr id="4" name="dataTable"/>
          <p:cNvGraphicFramePr>
            <a:graphicFrameLocks noGrp="1"/>
          </p:cNvGraphicFramePr>
          <p:nvPr>
            <p:extLst>
              <p:ext uri="{D42A27DB-BD31-4B8C-83A1-F6EECF244321}">
                <p14:modId xmlns:p14="http://schemas.microsoft.com/office/powerpoint/2010/main" val="1579011935"/>
              </p:ext>
            </p:extLst>
          </p:nvPr>
        </p:nvGraphicFramePr>
        <p:xfrm>
          <a:off x="8046720" y="1737360"/>
          <a:ext cx="3200400" cy="914400"/>
        </p:xfrm>
        <a:graphic>
          <a:graphicData uri="http://schemas.openxmlformats.org/drawingml/2006/table">
            <a:tbl>
              <a:tblPr/>
              <a:tblGrid>
                <a:gridCol w="1554480"/>
                <a:gridCol w="1645920"/>
              </a:tblGrid>
              <a:tr h="274320">
                <a:tc>
                  <a:txBody>
                    <a:bodyPr/>
                    <a:lstStyle/>
                    <a:p>
                      <a:pPr indent="0" marL="0">
                        <a:buNone/>
                      </a:pPr>
                      <a:r>
                        <a:rPr lang="en-US" sz="1050" b="1" dirty="0">
                          <a:solidFill>
                            <a:srgbClr val="3A4A58"/>
                          </a:solidFill>
                        </a:rPr>
                        <a:t>LJSpeech 1.1</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dirty="0">
                          <a:solidFill>
                            <a:srgbClr val="3A4A58"/>
                          </a:solidFill>
                        </a:rPr>
                        <a:t>13,100 clips</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r>
              <a:tr h="274320">
                <a:tc>
                  <a:txBody>
                    <a:bodyPr/>
                    <a:lstStyle/>
                    <a:p>
                      <a:pPr indent="0" marL="0">
                        <a:buNone/>
                      </a:pPr>
                      <a:r>
                        <a:rPr lang="en-US" sz="1050" dirty="0">
                          <a:solidFill>
                            <a:srgbClr val="3A4A58"/>
                          </a:solidFill>
                        </a:rPr>
                        <a:t>Speaker</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dirty="0">
                          <a:solidFill>
                            <a:srgbClr val="3A4A58"/>
                          </a:solidFill>
                        </a:rPr>
                        <a:t>1 female, 23.9 h</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r>
              <a:tr h="274320">
                <a:tc>
                  <a:txBody>
                    <a:bodyPr/>
                    <a:lstStyle/>
                    <a:p>
                      <a:pPr indent="0" marL="0">
                        <a:buNone/>
                      </a:pPr>
                      <a:r>
                        <a:rPr lang="en-US" sz="1050" dirty="0">
                          <a:solidFill>
                            <a:srgbClr val="3A4A58"/>
                          </a:solidFill>
                        </a:rPr>
                        <a:t>Audio</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dirty="0">
                          <a:solidFill>
                            <a:srgbClr val="3A4A58"/>
                          </a:solidFill>
                        </a:rPr>
                        <a:t>22,050 Hz mono</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r>
              <a:tr h="274320">
                <a:tc>
                  <a:txBody>
                    <a:bodyPr/>
                    <a:lstStyle/>
                    <a:p>
                      <a:pPr indent="0" marL="0">
                        <a:buNone/>
                      </a:pPr>
                      <a:r>
                        <a:rPr lang="en-US" sz="1050" dirty="0">
                          <a:solidFill>
                            <a:srgbClr val="3A4A58"/>
                          </a:solidFill>
                        </a:rPr>
                        <a:t>Clip length</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dirty="0">
                          <a:solidFill>
                            <a:srgbClr val="3A4A58"/>
                          </a:solidFill>
                        </a:rPr>
                        <a:t>1.1 – 10.1 s</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r>
              <a:tr h="274320">
                <a:tc>
                  <a:txBody>
                    <a:bodyPr/>
                    <a:lstStyle/>
                    <a:p>
                      <a:pPr indent="0" marL="0">
                        <a:buNone/>
                      </a:pPr>
                      <a:r>
                        <a:rPr lang="en-US" sz="1050" dirty="0">
                          <a:solidFill>
                            <a:srgbClr val="3A4A58"/>
                          </a:solidFill>
                        </a:rPr>
                        <a:t>Train</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b="1" dirty="0">
                          <a:solidFill>
                            <a:srgbClr val="3A4A58"/>
                          </a:solidFill>
                        </a:rPr>
                        <a:t>12,501 clips</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r>
              <a:tr h="274320">
                <a:tc>
                  <a:txBody>
                    <a:bodyPr/>
                    <a:lstStyle/>
                    <a:p>
                      <a:pPr indent="0" marL="0">
                        <a:buNone/>
                      </a:pPr>
                      <a:r>
                        <a:rPr lang="en-US" sz="1050" dirty="0">
                          <a:solidFill>
                            <a:srgbClr val="3A4A58"/>
                          </a:solidFill>
                        </a:rPr>
                        <a:t>Validation</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b="1" dirty="0">
                          <a:solidFill>
                            <a:srgbClr val="3A4A58"/>
                          </a:solidFill>
                        </a:rPr>
                        <a:t>300 clips</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r>
              <a:tr h="274320">
                <a:tc>
                  <a:txBody>
                    <a:bodyPr/>
                    <a:lstStyle/>
                    <a:p>
                      <a:pPr indent="0" marL="0">
                        <a:buNone/>
                      </a:pPr>
                      <a:r>
                        <a:rPr lang="en-US" sz="1050" dirty="0">
                          <a:solidFill>
                            <a:srgbClr val="3A4A58"/>
                          </a:solidFill>
                        </a:rPr>
                        <a:t>Test</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b="1" dirty="0">
                          <a:solidFill>
                            <a:srgbClr val="3A4A58"/>
                          </a:solidFill>
                        </a:rPr>
                        <a:t>299 clips</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r>
            </a:tbl>
          </a:graphicData>
        </a:graphic>
      </p:graphicFrame>
      <p:sp>
        <p:nvSpPr>
          <p:cNvPr id="35" name="Text 32"/>
          <p:cNvSpPr txBox="1"/>
          <p:nvPr/>
        </p:nvSpPr>
        <p:spPr>
          <a:xfrm>
            <a:off x="8046720" y="3794760"/>
            <a:ext cx="3200400" cy="292608"/>
          </a:xfrm>
          <a:prstGeom prst="rect">
            <a:avLst/>
          </a:prstGeom>
          <a:noFill/>
          <a:ln/>
        </p:spPr>
        <p:txBody>
          <a:bodyPr wrap="square" lIns="0" tIns="0" rIns="0" bIns="0" rtlCol="0" anchor="ctr"/>
          <a:lstStyle/>
          <a:p>
            <a:pPr indent="0" marL="0">
              <a:buNone/>
            </a:pPr>
            <a:r>
              <a:rPr lang="en-US" sz="1150" b="1" dirty="0">
                <a:solidFill>
                  <a:schemeClr val="accent6"/>
                </a:solidFill>
              </a:rPr>
              <a:t>Test = a whole held-out book (LJ005)</a:t>
            </a:r>
            <a:endParaRPr lang="en-US" sz="1150" dirty="0"/>
          </a:p>
        </p:txBody>
      </p:sp>
      <p:sp>
        <p:nvSpPr>
          <p:cNvPr id="36" name="Text 33"/>
          <p:cNvSpPr txBox="1"/>
          <p:nvPr/>
        </p:nvSpPr>
        <p:spPr>
          <a:xfrm>
            <a:off x="8046720" y="4114800"/>
            <a:ext cx="3200400" cy="1371600"/>
          </a:xfrm>
          <a:prstGeom prst="rect">
            <a:avLst/>
          </a:prstGeom>
          <a:noFill/>
          <a:ln/>
        </p:spPr>
        <p:txBody>
          <a:bodyPr wrap="square" lIns="0" tIns="0" rIns="0" bIns="0" rtlCol="0" anchor="ctr"/>
          <a:lstStyle/>
          <a:p>
            <a:pPr indent="0" marL="0">
              <a:buNone/>
            </a:pPr>
            <a:r>
              <a:rPr lang="en-US" sz="1050" dirty="0">
                <a:solidFill>
                  <a:srgbClr val="3A4A58"/>
                </a:solidFill>
              </a:rPr>
              <a:t>With only one speaker we cannot hold out unseen voices, so we hold out entire source texts instead. No test sentence shares a book with any training sentence.</a:t>
            </a:r>
            <a:endParaRPr lang="en-US" sz="1050" dirty="0"/>
          </a:p>
        </p:txBody>
      </p:sp>
      <p:sp>
        <p:nvSpPr>
          <p:cNvPr id="25" name="Slide Number Placeholder 0"/>
          <p:cNvSpPr>
            <a:spLocks noGrp="1"/>
          </p:cNvSpPr>
          <p:nvPr>
            <p:ph type="sldNum" sz="quarter" idx="4294967295"/>
          </p:nvPr>
        </p:nvSpPr>
        <p:spPr>
          <a:xfrm>
            <a:off x="113842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7B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881360" cy="658368"/>
          </a:xfrm>
          <a:prstGeom prst="rect">
            <a:avLst/>
          </a:prstGeom>
          <a:noFill/>
          <a:ln/>
        </p:spPr>
        <p:txBody>
          <a:bodyPr wrap="square" rtlCol="0"/>
          <a:lstStyle/>
          <a:p>
            <a:pPr algn="l" indent="0" marL="0">
              <a:buNone/>
            </a:pPr>
            <a:r>
              <a:rPr lang="en-US" sz="3200" b="1" dirty="0">
                <a:solidFill>
                  <a:schemeClr val="accent3"/>
                </a:solidFill>
              </a:rPr>
              <a:t>The models we built</a:t>
            </a:r>
            <a:endParaRPr lang="en-US" sz="3200" dirty="0"/>
          </a:p>
        </p:txBody>
      </p:sp>
      <p:sp>
        <p:nvSpPr>
          <p:cNvPr id="3" name="Text 1"/>
          <p:cNvSpPr txBox="1"/>
          <p:nvPr/>
        </p:nvSpPr>
        <p:spPr>
          <a:xfrm>
            <a:off x="640080" y="1097280"/>
            <a:ext cx="10881360" cy="310896"/>
          </a:xfrm>
          <a:prstGeom prst="rect">
            <a:avLst/>
          </a:prstGeom>
          <a:noFill/>
          <a:ln/>
        </p:spPr>
        <p:txBody>
          <a:bodyPr wrap="square" lIns="0" tIns="0" rIns="0" bIns="0" rtlCol="0" anchor="ctr"/>
          <a:lstStyle/>
          <a:p>
            <a:pPr indent="0" marL="0">
              <a:buNone/>
            </a:pPr>
            <a:r>
              <a:rPr lang="en-US" sz="1300" b="1" dirty="0">
                <a:solidFill>
                  <a:schemeClr val="accent3"/>
                </a:solidFill>
              </a:rPr>
              <a:t>The task:  given a phoneme and its context, predict how many frames it lasts  —  regression, 905,833 training examples</a:t>
            </a:r>
            <a:endParaRPr lang="en-US" sz="1300" dirty="0"/>
          </a:p>
        </p:txBody>
      </p:sp>
      <p:sp>
        <p:nvSpPr>
          <p:cNvPr id="4" name="Text 2"/>
          <p:cNvSpPr txBox="1"/>
          <p:nvPr/>
        </p:nvSpPr>
        <p:spPr>
          <a:xfrm>
            <a:off x="640080" y="1536192"/>
            <a:ext cx="6766560" cy="274320"/>
          </a:xfrm>
          <a:prstGeom prst="rect">
            <a:avLst/>
          </a:prstGeom>
          <a:noFill/>
          <a:ln/>
        </p:spPr>
        <p:txBody>
          <a:bodyPr wrap="square" lIns="0" tIns="0" rIns="0" bIns="0" rtlCol="0" anchor="ctr"/>
          <a:lstStyle/>
          <a:p>
            <a:pPr indent="0" marL="0">
              <a:buNone/>
            </a:pPr>
            <a:r>
              <a:rPr lang="en-US" sz="1250" b="1" dirty="0">
                <a:solidFill>
                  <a:schemeClr val="accent1"/>
                </a:solidFill>
              </a:rPr>
              <a:t>We TRAINED these three</a:t>
            </a:r>
            <a:endParaRPr lang="en-US" sz="1250" dirty="0"/>
          </a:p>
        </p:txBody>
      </p:sp>
      <p:graphicFrame>
        <p:nvGraphicFramePr>
          <p:cNvPr id="5" name="modelTable"/>
          <p:cNvGraphicFramePr>
            <a:graphicFrameLocks noGrp="1"/>
          </p:cNvGraphicFramePr>
          <p:nvPr>
            <p:extLst>
              <p:ext uri="{D42A27DB-BD31-4B8C-83A1-F6EECF244321}">
                <p14:modId xmlns:p14="http://schemas.microsoft.com/office/powerpoint/2010/main" val="1579011935"/>
              </p:ext>
            </p:extLst>
          </p:nvPr>
        </p:nvGraphicFramePr>
        <p:xfrm>
          <a:off x="640080" y="1847088"/>
          <a:ext cx="6766560" cy="914400"/>
        </p:xfrm>
        <a:graphic>
          <a:graphicData uri="http://schemas.openxmlformats.org/drawingml/2006/table">
            <a:tbl>
              <a:tblPr/>
              <a:tblGrid>
                <a:gridCol w="1600200"/>
                <a:gridCol w="3703320"/>
                <a:gridCol w="1463040"/>
              </a:tblGrid>
              <a:tr h="384048">
                <a:tc>
                  <a:txBody>
                    <a:bodyPr/>
                    <a:lstStyle/>
                    <a:p>
                      <a:pPr indent="0" marL="0">
                        <a:buNone/>
                      </a:pPr>
                      <a:r>
                        <a:rPr lang="en-US" sz="1050" b="1" dirty="0">
                          <a:solidFill>
                            <a:srgbClr val="FFFFFF"/>
                          </a:solidFill>
                        </a:rPr>
                        <a:t>Model</a:t>
                      </a:r>
                      <a:endParaRPr lang="en-US" sz="1050" dirty="0"/>
                    </a:p>
                  </a:txBody>
                  <a:tcPr marL="64008" marR="64008" marT="64008" marB="64008">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065A82"/>
                    </a:solidFill>
                  </a:tcPr>
                </a:tc>
                <a:tc>
                  <a:txBody>
                    <a:bodyPr/>
                    <a:lstStyle/>
                    <a:p>
                      <a:pPr indent="0" marL="0">
                        <a:buNone/>
                      </a:pPr>
                      <a:r>
                        <a:rPr lang="en-US" sz="1050" b="1" dirty="0">
                          <a:solidFill>
                            <a:srgbClr val="FFFFFF"/>
                          </a:solidFill>
                        </a:rPr>
                        <a:t>What it is</a:t>
                      </a:r>
                      <a:endParaRPr lang="en-US" sz="1050" dirty="0"/>
                    </a:p>
                  </a:txBody>
                  <a:tcPr marL="64008" marR="64008" marT="64008" marB="64008">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065A82"/>
                    </a:solidFill>
                  </a:tcPr>
                </a:tc>
                <a:tc>
                  <a:txBody>
                    <a:bodyPr/>
                    <a:lstStyle/>
                    <a:p>
                      <a:pPr indent="0" marL="0">
                        <a:buNone/>
                      </a:pPr>
                      <a:r>
                        <a:rPr lang="en-US" sz="1050" b="1" dirty="0">
                          <a:solidFill>
                            <a:srgbClr val="FFFFFF"/>
                          </a:solidFill>
                        </a:rPr>
                        <a:t>Test MAE</a:t>
                      </a:r>
                      <a:endParaRPr lang="en-US" sz="1050" dirty="0"/>
                    </a:p>
                  </a:txBody>
                  <a:tcPr marL="64008" marR="64008" marT="64008" marB="64008">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065A82"/>
                    </a:solidFill>
                  </a:tcPr>
                </a:tc>
              </a:tr>
              <a:tr h="384048">
                <a:tc>
                  <a:txBody>
                    <a:bodyPr/>
                    <a:lstStyle/>
                    <a:p>
                      <a:pPr indent="0" marL="0">
                        <a:buNone/>
                      </a:pPr>
                      <a:r>
                        <a:rPr lang="en-US" sz="1050" b="1" dirty="0">
                          <a:solidFill>
                            <a:srgbClr val="065A82"/>
                          </a:solidFill>
                        </a:rPr>
                        <a:t>Per-phone mean</a:t>
                      </a:r>
                      <a:endParaRPr lang="en-US" sz="1050" dirty="0"/>
                    </a:p>
                  </a:txBody>
                  <a:tcPr marL="64008" marR="64008" marT="64008" marB="64008">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dirty="0">
                          <a:solidFill>
                            <a:srgbClr val="3A4A58"/>
                          </a:solidFill>
                        </a:rPr>
                        <a:t>average length of each phone type — the baseline to beat</a:t>
                      </a:r>
                      <a:endParaRPr lang="en-US" sz="1050" dirty="0"/>
                    </a:p>
                  </a:txBody>
                  <a:tcPr marL="64008" marR="64008" marT="64008" marB="64008">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b="1" dirty="0">
                          <a:solidFill>
                            <a:srgbClr val="3A4A58"/>
                          </a:solidFill>
                        </a:rPr>
                        <a:t>30.61 ms</a:t>
                      </a:r>
                      <a:endParaRPr lang="en-US" sz="1050" dirty="0"/>
                    </a:p>
                  </a:txBody>
                  <a:tcPr marL="64008" marR="64008" marT="64008" marB="64008">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r>
              <a:tr h="384048">
                <a:tc>
                  <a:txBody>
                    <a:bodyPr/>
                    <a:lstStyle/>
                    <a:p>
                      <a:pPr indent="0" marL="0">
                        <a:buNone/>
                      </a:pPr>
                      <a:r>
                        <a:rPr lang="en-US" sz="1050" b="1" dirty="0">
                          <a:solidFill>
                            <a:srgbClr val="065A82"/>
                          </a:solidFill>
                        </a:rPr>
                        <a:t>Ridge regression</a:t>
                      </a:r>
                      <a:endParaRPr lang="en-US" sz="1050" dirty="0"/>
                    </a:p>
                  </a:txBody>
                  <a:tcPr marL="64008" marR="64008" marT="64008" marB="64008">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dirty="0">
                          <a:solidFill>
                            <a:srgbClr val="3A4A58"/>
                          </a:solidFill>
                        </a:rPr>
                        <a:t>linear model, one-hot categories, alpha tuned on validation</a:t>
                      </a:r>
                      <a:endParaRPr lang="en-US" sz="1050" dirty="0"/>
                    </a:p>
                  </a:txBody>
                  <a:tcPr marL="64008" marR="64008" marT="64008" marB="64008">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b="1" dirty="0">
                          <a:solidFill>
                            <a:srgbClr val="3A4A58"/>
                          </a:solidFill>
                        </a:rPr>
                        <a:t>27.14 ms</a:t>
                      </a:r>
                      <a:endParaRPr lang="en-US" sz="1050" dirty="0"/>
                    </a:p>
                  </a:txBody>
                  <a:tcPr marL="64008" marR="64008" marT="64008" marB="64008">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r>
              <a:tr h="384048">
                <a:tc>
                  <a:txBody>
                    <a:bodyPr/>
                    <a:lstStyle/>
                    <a:p>
                      <a:pPr indent="0" marL="0">
                        <a:buNone/>
                      </a:pPr>
                      <a:r>
                        <a:rPr lang="en-US" sz="1050" b="1" dirty="0">
                          <a:solidFill>
                            <a:srgbClr val="02C39A"/>
                          </a:solidFill>
                        </a:rPr>
                        <a:t>Boosted trees</a:t>
                      </a:r>
                      <a:endParaRPr lang="en-US" sz="1050" dirty="0"/>
                    </a:p>
                  </a:txBody>
                  <a:tcPr marL="64008" marR="64008" marT="64008" marB="64008">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dirty="0">
                          <a:solidFill>
                            <a:srgbClr val="3A4A58"/>
                          </a:solidFill>
                        </a:rPr>
                        <a:t>HistGradientBoosting, native category splits, stopped at 1,052 rounds</a:t>
                      </a:r>
                      <a:endParaRPr lang="en-US" sz="1050" dirty="0"/>
                    </a:p>
                  </a:txBody>
                  <a:tcPr marL="64008" marR="64008" marT="64008" marB="64008">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b="1" dirty="0">
                          <a:solidFill>
                            <a:srgbClr val="02C39A"/>
                          </a:solidFill>
                        </a:rPr>
                        <a:t>19.65 ms</a:t>
                      </a:r>
                      <a:endParaRPr lang="en-US" sz="1050" dirty="0"/>
                    </a:p>
                  </a:txBody>
                  <a:tcPr marL="64008" marR="64008" marT="64008" marB="64008">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r>
            </a:tbl>
          </a:graphicData>
        </a:graphic>
      </p:graphicFrame>
      <p:sp>
        <p:nvSpPr>
          <p:cNvPr id="6" name="Text 3"/>
          <p:cNvSpPr txBox="1"/>
          <p:nvPr/>
        </p:nvSpPr>
        <p:spPr>
          <a:xfrm>
            <a:off x="640080" y="3493008"/>
            <a:ext cx="6766560" cy="548640"/>
          </a:xfrm>
          <a:prstGeom prst="rect">
            <a:avLst/>
          </a:prstGeom>
          <a:noFill/>
          <a:ln/>
        </p:spPr>
        <p:txBody>
          <a:bodyPr wrap="square" lIns="0" tIns="0" rIns="0" bIns="0" rtlCol="0" anchor="ctr"/>
          <a:lstStyle/>
          <a:p>
            <a:pPr indent="0" marL="0">
              <a:buNone/>
            </a:pPr>
            <a:r>
              <a:rPr lang="en-US" sz="2000" b="1" dirty="0">
                <a:solidFill>
                  <a:srgbClr val="02C39A"/>
                </a:solidFill>
              </a:rPr>
              <a:t>35.8% </a:t>
            </a:r>
            <a:pPr indent="0" marL="0">
              <a:buNone/>
            </a:pPr>
            <a:r>
              <a:rPr lang="en-US" sz="1150" dirty="0">
                <a:solidFill>
                  <a:srgbClr val="3A4A58"/>
                </a:solidFill>
              </a:rPr>
              <a:t>better than the baseline. Ordering baseline &gt; ridge &gt; trees is the reassuring one —</a:t>
            </a:r>
            <a:pPr indent="0" marL="0">
              <a:buNone/>
            </a:pPr>
            <a:r>
              <a:rPr lang="en-US" sz="1150" i="1" dirty="0">
                <a:solidFill>
                  <a:srgbClr val="3A4A58"/>
                </a:solidFill>
              </a:rPr>
              <a:t> if ridge had won we would have gone looking for a bug.</a:t>
            </a:r>
            <a:endParaRPr lang="en-US" sz="2000" dirty="0"/>
          </a:p>
        </p:txBody>
      </p:sp>
      <p:sp>
        <p:nvSpPr>
          <p:cNvPr id="7" name="Text 4"/>
          <p:cNvSpPr txBox="1"/>
          <p:nvPr/>
        </p:nvSpPr>
        <p:spPr>
          <a:xfrm>
            <a:off x="640080" y="4114800"/>
            <a:ext cx="6766560" cy="274320"/>
          </a:xfrm>
          <a:prstGeom prst="rect">
            <a:avLst/>
          </a:prstGeom>
          <a:noFill/>
          <a:ln/>
        </p:spPr>
        <p:txBody>
          <a:bodyPr wrap="square" lIns="0" tIns="0" rIns="0" bIns="0" rtlCol="0" anchor="ctr"/>
          <a:lstStyle/>
          <a:p>
            <a:pPr indent="0" marL="0">
              <a:buNone/>
            </a:pPr>
            <a:r>
              <a:rPr lang="en-US" sz="1250" b="1" dirty="0">
                <a:solidFill>
                  <a:schemeClr val="accent1"/>
                </a:solidFill>
              </a:rPr>
              <a:t>21 features, all from the TEXT only</a:t>
            </a:r>
            <a:endParaRPr lang="en-US" sz="1250" dirty="0"/>
          </a:p>
        </p:txBody>
      </p:sp>
      <p:sp>
        <p:nvSpPr>
          <p:cNvPr id="8" name="Text 5"/>
          <p:cNvSpPr txBox="1"/>
          <p:nvPr/>
        </p:nvSpPr>
        <p:spPr>
          <a:xfrm>
            <a:off x="640080" y="4425696"/>
            <a:ext cx="6766560" cy="137160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3A4A58"/>
                </a:solidFill>
              </a:rPr>
              <a:t>the phone itself (with stress), the phone before and after, phone class, position in word and sentence, and distance to the nearest pause</a:t>
            </a:r>
            <a:endParaRPr lang="en-US" sz="1100" dirty="0"/>
          </a:p>
          <a:p>
            <a:pPr marL="342900" indent="-342900">
              <a:spcAft>
                <a:spcPts val="500"/>
              </a:spcAft>
              <a:buSzPct val="100000"/>
              <a:buChar char="•"/>
            </a:pPr>
            <a:r>
              <a:rPr lang="en-US" sz="1100" dirty="0">
                <a:solidFill>
                  <a:srgbClr val="3A4A58"/>
                </a:solidFill>
              </a:rPr>
              <a:t>we predict log(duration): most phones are ~7 frames but silences reach 481, so raw squared error would chase the pauses</a:t>
            </a:r>
            <a:endParaRPr lang="en-US" sz="1100" dirty="0"/>
          </a:p>
          <a:p>
            <a:pPr marL="342900" indent="-342900">
              <a:spcAft>
                <a:spcPts val="500"/>
              </a:spcAft>
              <a:buSzPct val="100000"/>
              <a:buChar char="•"/>
            </a:pPr>
            <a:r>
              <a:rPr lang="en-US" sz="1100" dirty="0">
                <a:solidFill>
                  <a:srgbClr val="3A4A58"/>
                </a:solidFill>
              </a:rPr>
              <a:t>NO feature uses the clip's true length — that would leak. A test triples every duration and checks the features are unchanged.</a:t>
            </a:r>
            <a:endParaRPr lang="en-US" sz="1100" dirty="0"/>
          </a:p>
        </p:txBody>
      </p:sp>
      <p:sp>
        <p:nvSpPr>
          <p:cNvPr id="9" name="preCard"/>
          <p:cNvSpPr/>
          <p:nvPr/>
        </p:nvSpPr>
        <p:spPr>
          <a:xfrm>
            <a:off x="7772400" y="1536192"/>
            <a:ext cx="3749040" cy="4206240"/>
          </a:xfrm>
          <a:prstGeom prst="roundRect">
            <a:avLst>
              <a:gd name="adj" fmla="val 1220"/>
            </a:avLst>
          </a:prstGeom>
          <a:solidFill>
            <a:schemeClr val="bg2"/>
          </a:solidFill>
          <a:ln w="12700">
            <a:solidFill>
              <a:srgbClr val="D7E3EA"/>
            </a:solidFill>
            <a:prstDash val="solid"/>
          </a:ln>
        </p:spPr>
      </p:sp>
      <p:sp>
        <p:nvSpPr>
          <p:cNvPr id="10" name="Text 7"/>
          <p:cNvSpPr txBox="1"/>
          <p:nvPr/>
        </p:nvSpPr>
        <p:spPr>
          <a:xfrm>
            <a:off x="8046720" y="1700784"/>
            <a:ext cx="3200400" cy="274320"/>
          </a:xfrm>
          <a:prstGeom prst="rect">
            <a:avLst/>
          </a:prstGeom>
          <a:noFill/>
          <a:ln/>
        </p:spPr>
        <p:txBody>
          <a:bodyPr wrap="square" lIns="0" tIns="0" rIns="0" bIns="0" rtlCol="0" anchor="ctr"/>
          <a:lstStyle/>
          <a:p>
            <a:pPr indent="0" marL="0">
              <a:buNone/>
            </a:pPr>
            <a:r>
              <a:rPr lang="en-US" sz="1250" b="1" dirty="0">
                <a:solidFill>
                  <a:schemeClr val="accent6"/>
                </a:solidFill>
              </a:rPr>
              <a:t>We USED these, pre-trained</a:t>
            </a:r>
            <a:endParaRPr lang="en-US" sz="1250" dirty="0"/>
          </a:p>
        </p:txBody>
      </p:sp>
      <p:sp>
        <p:nvSpPr>
          <p:cNvPr id="11" name="Text 8"/>
          <p:cNvSpPr txBox="1"/>
          <p:nvPr/>
        </p:nvSpPr>
        <p:spPr>
          <a:xfrm>
            <a:off x="8046720" y="1993392"/>
            <a:ext cx="3200400" cy="365760"/>
          </a:xfrm>
          <a:prstGeom prst="rect">
            <a:avLst/>
          </a:prstGeom>
          <a:noFill/>
          <a:ln/>
        </p:spPr>
        <p:txBody>
          <a:bodyPr wrap="square" lIns="0" tIns="0" rIns="0" bIns="0" rtlCol="0" anchor="ctr"/>
          <a:lstStyle/>
          <a:p>
            <a:pPr indent="0" marL="0">
              <a:buNone/>
            </a:pPr>
            <a:r>
              <a:rPr lang="en-US" sz="1000" i="1" dirty="0">
                <a:solidFill>
                  <a:srgbClr val="6B7A88"/>
                </a:solidFill>
              </a:rPr>
              <a:t>We did not train them — saying otherwise would be wrong.</a:t>
            </a:r>
            <a:endParaRPr lang="en-US" sz="1000" dirty="0"/>
          </a:p>
        </p:txBody>
      </p:sp>
      <p:sp>
        <p:nvSpPr>
          <p:cNvPr id="12" name="Text 9"/>
          <p:cNvSpPr txBox="1"/>
          <p:nvPr/>
        </p:nvSpPr>
        <p:spPr>
          <a:xfrm>
            <a:off x="8046720" y="2432304"/>
            <a:ext cx="3200400" cy="256032"/>
          </a:xfrm>
          <a:prstGeom prst="rect">
            <a:avLst/>
          </a:prstGeom>
          <a:noFill/>
          <a:ln/>
        </p:spPr>
        <p:txBody>
          <a:bodyPr wrap="square" lIns="0" tIns="0" rIns="0" bIns="0" rtlCol="0" anchor="ctr"/>
          <a:lstStyle/>
          <a:p>
            <a:pPr indent="0" marL="0">
              <a:buNone/>
            </a:pPr>
            <a:r>
              <a:rPr lang="en-US" sz="1150" b="1" dirty="0">
                <a:solidFill>
                  <a:schemeClr val="accent3"/>
                </a:solidFill>
              </a:rPr>
              <a:t>MFA aligner</a:t>
            </a:r>
            <a:endParaRPr lang="en-US" sz="1150" dirty="0"/>
          </a:p>
        </p:txBody>
      </p:sp>
      <p:sp>
        <p:nvSpPr>
          <p:cNvPr id="13" name="Text 10"/>
          <p:cNvSpPr txBox="1"/>
          <p:nvPr/>
        </p:nvSpPr>
        <p:spPr>
          <a:xfrm>
            <a:off x="8046720" y="2688336"/>
            <a:ext cx="3200400" cy="658368"/>
          </a:xfrm>
          <a:prstGeom prst="rect">
            <a:avLst/>
          </a:prstGeom>
          <a:noFill/>
          <a:ln/>
        </p:spPr>
        <p:txBody>
          <a:bodyPr wrap="square" lIns="0" tIns="0" rIns="0" bIns="0" rtlCol="0" anchor="ctr"/>
          <a:lstStyle/>
          <a:p>
            <a:pPr indent="0" marL="0">
              <a:buNone/>
            </a:pPr>
            <a:r>
              <a:rPr lang="en-US" sz="1000" dirty="0">
                <a:solidFill>
                  <a:srgbClr val="3A4A58"/>
                </a:solidFill>
              </a:rPr>
              <a:t>finds where each phone starts and ends (our ground truth)</a:t>
            </a:r>
            <a:endParaRPr lang="en-US" sz="1000" dirty="0"/>
          </a:p>
        </p:txBody>
      </p:sp>
      <p:sp>
        <p:nvSpPr>
          <p:cNvPr id="14" name="Text 11"/>
          <p:cNvSpPr txBox="1"/>
          <p:nvPr/>
        </p:nvSpPr>
        <p:spPr>
          <a:xfrm>
            <a:off x="8046720" y="3438144"/>
            <a:ext cx="3200400" cy="256032"/>
          </a:xfrm>
          <a:prstGeom prst="rect">
            <a:avLst/>
          </a:prstGeom>
          <a:noFill/>
          <a:ln/>
        </p:spPr>
        <p:txBody>
          <a:bodyPr wrap="square" lIns="0" tIns="0" rIns="0" bIns="0" rtlCol="0" anchor="ctr"/>
          <a:lstStyle/>
          <a:p>
            <a:pPr indent="0" marL="0">
              <a:buNone/>
            </a:pPr>
            <a:r>
              <a:rPr lang="en-US" sz="1150" b="1" dirty="0">
                <a:solidFill>
                  <a:schemeClr val="accent3"/>
                </a:solidFill>
              </a:rPr>
              <a:t>HiFi-GAN vocoder</a:t>
            </a:r>
            <a:endParaRPr lang="en-US" sz="1150" dirty="0"/>
          </a:p>
        </p:txBody>
      </p:sp>
      <p:sp>
        <p:nvSpPr>
          <p:cNvPr id="15" name="Text 12"/>
          <p:cNvSpPr txBox="1"/>
          <p:nvPr/>
        </p:nvSpPr>
        <p:spPr>
          <a:xfrm>
            <a:off x="8046720" y="3694176"/>
            <a:ext cx="3200400" cy="658368"/>
          </a:xfrm>
          <a:prstGeom prst="rect">
            <a:avLst/>
          </a:prstGeom>
          <a:noFill/>
          <a:ln/>
        </p:spPr>
        <p:txBody>
          <a:bodyPr wrap="square" lIns="0" tIns="0" rIns="0" bIns="0" rtlCol="0" anchor="ctr"/>
          <a:lstStyle/>
          <a:p>
            <a:pPr indent="0" marL="0">
              <a:buNone/>
            </a:pPr>
            <a:r>
              <a:rPr lang="en-US" sz="1000" dirty="0">
                <a:solidFill>
                  <a:srgbClr val="3A4A58"/>
                </a:solidFill>
              </a:rPr>
              <a:t>turns a spectrogram back into a waveform — frozen, so it is identical in every system</a:t>
            </a:r>
            <a:endParaRPr lang="en-US" sz="1000" dirty="0"/>
          </a:p>
        </p:txBody>
      </p:sp>
      <p:sp>
        <p:nvSpPr>
          <p:cNvPr id="16" name="Text 13"/>
          <p:cNvSpPr txBox="1"/>
          <p:nvPr/>
        </p:nvSpPr>
        <p:spPr>
          <a:xfrm>
            <a:off x="8046720" y="4443984"/>
            <a:ext cx="3200400" cy="256032"/>
          </a:xfrm>
          <a:prstGeom prst="rect">
            <a:avLst/>
          </a:prstGeom>
          <a:noFill/>
          <a:ln/>
        </p:spPr>
        <p:txBody>
          <a:bodyPr wrap="square" lIns="0" tIns="0" rIns="0" bIns="0" rtlCol="0" anchor="ctr"/>
          <a:lstStyle/>
          <a:p>
            <a:pPr indent="0" marL="0">
              <a:buNone/>
            </a:pPr>
            <a:r>
              <a:rPr lang="en-US" sz="1150" b="1" dirty="0">
                <a:solidFill>
                  <a:schemeClr val="accent3"/>
                </a:solidFill>
              </a:rPr>
              <a:t>Whisper small.en</a:t>
            </a:r>
            <a:endParaRPr lang="en-US" sz="1150" dirty="0"/>
          </a:p>
        </p:txBody>
      </p:sp>
      <p:sp>
        <p:nvSpPr>
          <p:cNvPr id="17" name="Text 14"/>
          <p:cNvSpPr txBox="1"/>
          <p:nvPr/>
        </p:nvSpPr>
        <p:spPr>
          <a:xfrm>
            <a:off x="8046720" y="4700016"/>
            <a:ext cx="3200400" cy="658368"/>
          </a:xfrm>
          <a:prstGeom prst="rect">
            <a:avLst/>
          </a:prstGeom>
          <a:noFill/>
          <a:ln/>
        </p:spPr>
        <p:txBody>
          <a:bodyPr wrap="square" lIns="0" tIns="0" rIns="0" bIns="0" rtlCol="0" anchor="ctr"/>
          <a:lstStyle/>
          <a:p>
            <a:pPr indent="0" marL="0">
              <a:buNone/>
            </a:pPr>
            <a:r>
              <a:rPr lang="en-US" sz="1000" dirty="0">
                <a:solidFill>
                  <a:srgbClr val="3A4A58"/>
                </a:solidFill>
              </a:rPr>
              <a:t>transcribes our audio so we can score it — the ruler, not the subject</a:t>
            </a:r>
            <a:endParaRPr lang="en-US" sz="1000" dirty="0"/>
          </a:p>
        </p:txBody>
      </p:sp>
      <p:sp>
        <p:nvSpPr>
          <p:cNvPr id="18" name="Text 15"/>
          <p:cNvSpPr txBox="1"/>
          <p:nvPr/>
        </p:nvSpPr>
        <p:spPr>
          <a:xfrm>
            <a:off x="8046720" y="5394960"/>
            <a:ext cx="3200400" cy="457200"/>
          </a:xfrm>
          <a:prstGeom prst="rect">
            <a:avLst/>
          </a:prstGeom>
          <a:noFill/>
          <a:ln/>
        </p:spPr>
        <p:txBody>
          <a:bodyPr wrap="square" lIns="0" tIns="0" rIns="0" bIns="0" rtlCol="0" anchor="ctr"/>
          <a:lstStyle/>
          <a:p>
            <a:pPr indent="0" marL="0">
              <a:buNone/>
            </a:pPr>
            <a:r>
              <a:rPr lang="en-US" sz="950" i="1" dirty="0">
                <a:solidFill>
                  <a:srgbClr val="6B7A88"/>
                </a:solidFill>
              </a:rPr>
              <a:t>Freezing the vocoder is experimental design, not laziness: if it changed between systems the A1 vs A2 comparison would mean nothing.</a:t>
            </a:r>
            <a:endParaRPr lang="en-US" sz="950" dirty="0"/>
          </a:p>
        </p:txBody>
      </p:sp>
      <p:sp>
        <p:nvSpPr>
          <p:cNvPr id="25" name="Slide Number Placeholder 0"/>
          <p:cNvSpPr>
            <a:spLocks noGrp="1"/>
          </p:cNvSpPr>
          <p:nvPr>
            <p:ph type="sldNum" sz="quarter" idx="4294967295"/>
          </p:nvPr>
        </p:nvSpPr>
        <p:spPr>
          <a:xfrm>
            <a:off x="113842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7B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881360" cy="658368"/>
          </a:xfrm>
          <a:prstGeom prst="rect">
            <a:avLst/>
          </a:prstGeom>
          <a:noFill/>
          <a:ln/>
        </p:spPr>
        <p:txBody>
          <a:bodyPr wrap="square" rtlCol="0"/>
          <a:lstStyle/>
          <a:p>
            <a:pPr algn="l" indent="0" marL="0">
              <a:buNone/>
            </a:pPr>
            <a:r>
              <a:rPr lang="en-US" sz="3200" b="1" dirty="0">
                <a:solidFill>
                  <a:schemeClr val="accent3"/>
                </a:solidFill>
              </a:rPr>
              <a:t>How we measured, and why these metrics</a:t>
            </a:r>
            <a:endParaRPr lang="en-US" sz="3200" dirty="0"/>
          </a:p>
        </p:txBody>
      </p:sp>
      <p:sp>
        <p:nvSpPr>
          <p:cNvPr id="3" name="mMAE"/>
          <p:cNvSpPr/>
          <p:nvPr/>
        </p:nvSpPr>
        <p:spPr>
          <a:xfrm>
            <a:off x="640080" y="1170432"/>
            <a:ext cx="10881360" cy="1152144"/>
          </a:xfrm>
          <a:prstGeom prst="roundRect">
            <a:avLst>
              <a:gd name="adj" fmla="val 3968"/>
            </a:avLst>
          </a:prstGeom>
          <a:solidFill>
            <a:schemeClr val="bg2"/>
          </a:solidFill>
          <a:ln w="12700">
            <a:solidFill>
              <a:srgbClr val="D7E3EA"/>
            </a:solidFill>
            <a:prstDash val="solid"/>
          </a:ln>
        </p:spPr>
      </p:sp>
      <p:sp>
        <p:nvSpPr>
          <p:cNvPr id="4" name="Text 2"/>
          <p:cNvSpPr txBox="1"/>
          <p:nvPr/>
        </p:nvSpPr>
        <p:spPr>
          <a:xfrm>
            <a:off x="841248" y="1316736"/>
            <a:ext cx="1417320" cy="365760"/>
          </a:xfrm>
          <a:prstGeom prst="rect">
            <a:avLst/>
          </a:prstGeom>
          <a:noFill/>
          <a:ln/>
        </p:spPr>
        <p:txBody>
          <a:bodyPr wrap="square" lIns="0" tIns="0" rIns="0" bIns="0" rtlCol="0" anchor="ctr"/>
          <a:lstStyle/>
          <a:p>
            <a:pPr indent="0" marL="0">
              <a:buNone/>
            </a:pPr>
            <a:r>
              <a:rPr lang="en-US" sz="1700" b="1" dirty="0">
                <a:solidFill>
                  <a:srgbClr val="1C7293"/>
                </a:solidFill>
              </a:rPr>
              <a:t>MAE</a:t>
            </a:r>
            <a:endParaRPr lang="en-US" sz="1700" dirty="0"/>
          </a:p>
        </p:txBody>
      </p:sp>
      <p:sp>
        <p:nvSpPr>
          <p:cNvPr id="5" name="Text 3"/>
          <p:cNvSpPr txBox="1"/>
          <p:nvPr/>
        </p:nvSpPr>
        <p:spPr>
          <a:xfrm>
            <a:off x="841248" y="1719072"/>
            <a:ext cx="1417320" cy="274320"/>
          </a:xfrm>
          <a:prstGeom prst="rect">
            <a:avLst/>
          </a:prstGeom>
          <a:noFill/>
          <a:ln/>
        </p:spPr>
        <p:txBody>
          <a:bodyPr wrap="square" lIns="0" tIns="0" rIns="0" bIns="0" rtlCol="0" anchor="ctr"/>
          <a:lstStyle/>
          <a:p>
            <a:pPr indent="0" marL="0">
              <a:buNone/>
            </a:pPr>
            <a:r>
              <a:rPr lang="en-US" sz="950" dirty="0">
                <a:solidFill>
                  <a:srgbClr val="6B7A88"/>
                </a:solidFill>
              </a:rPr>
              <a:t>duration models</a:t>
            </a:r>
            <a:endParaRPr lang="en-US" sz="950" dirty="0"/>
          </a:p>
        </p:txBody>
      </p:sp>
      <p:sp>
        <p:nvSpPr>
          <p:cNvPr id="6" name="Text 4"/>
          <p:cNvSpPr txBox="1"/>
          <p:nvPr/>
        </p:nvSpPr>
        <p:spPr>
          <a:xfrm>
            <a:off x="2377440" y="1298448"/>
            <a:ext cx="2743200" cy="274320"/>
          </a:xfrm>
          <a:prstGeom prst="rect">
            <a:avLst/>
          </a:prstGeom>
          <a:noFill/>
          <a:ln/>
        </p:spPr>
        <p:txBody>
          <a:bodyPr wrap="square" lIns="0" tIns="0" rIns="0" bIns="0" rtlCol="0" anchor="ctr"/>
          <a:lstStyle/>
          <a:p>
            <a:pPr indent="0" marL="0">
              <a:buNone/>
            </a:pPr>
            <a:r>
              <a:rPr lang="en-US" sz="1150" b="1" dirty="0">
                <a:solidFill>
                  <a:schemeClr val="accent3"/>
                </a:solidFill>
              </a:rPr>
              <a:t>Mean Absolute Error</a:t>
            </a:r>
            <a:endParaRPr lang="en-US" sz="1150" dirty="0"/>
          </a:p>
        </p:txBody>
      </p:sp>
      <p:sp>
        <p:nvSpPr>
          <p:cNvPr id="7" name="Text 5"/>
          <p:cNvSpPr txBox="1"/>
          <p:nvPr/>
        </p:nvSpPr>
        <p:spPr>
          <a:xfrm>
            <a:off x="2377440" y="1572768"/>
            <a:ext cx="2743200" cy="640080"/>
          </a:xfrm>
          <a:prstGeom prst="rect">
            <a:avLst/>
          </a:prstGeom>
          <a:noFill/>
          <a:ln/>
        </p:spPr>
        <p:txBody>
          <a:bodyPr wrap="square" lIns="0" tIns="0" rIns="0" bIns="0" rtlCol="0" anchor="ctr"/>
          <a:lstStyle/>
          <a:p>
            <a:pPr indent="0" marL="0">
              <a:buNone/>
            </a:pPr>
            <a:r>
              <a:rPr lang="en-US" sz="1000" dirty="0">
                <a:solidFill>
                  <a:srgbClr val="3A4A58"/>
                </a:solidFill>
              </a:rPr>
              <a:t>average of |predicted − actual|, in frames and ms</a:t>
            </a:r>
            <a:endParaRPr lang="en-US" sz="1000" dirty="0"/>
          </a:p>
        </p:txBody>
      </p:sp>
      <p:sp>
        <p:nvSpPr>
          <p:cNvPr id="8" name="Text 6"/>
          <p:cNvSpPr txBox="1"/>
          <p:nvPr/>
        </p:nvSpPr>
        <p:spPr>
          <a:xfrm>
            <a:off x="5349240" y="1316736"/>
            <a:ext cx="5989320" cy="868680"/>
          </a:xfrm>
          <a:prstGeom prst="rect">
            <a:avLst/>
          </a:prstGeom>
          <a:noFill/>
          <a:ln/>
        </p:spPr>
        <p:txBody>
          <a:bodyPr wrap="square" lIns="0" tIns="0" rIns="0" bIns="0" rtlCol="0" anchor="ctr"/>
          <a:lstStyle/>
          <a:p>
            <a:pPr indent="0" marL="0">
              <a:buNone/>
            </a:pPr>
            <a:r>
              <a:rPr lang="en-US" sz="1000" dirty="0">
                <a:solidFill>
                  <a:srgbClr val="3A4A58"/>
                </a:solidFill>
              </a:rPr>
              <a:t>Why not RMSE? It squares errors, so a few 481-frame silences would dominate. Why not MAPE? It divides by the true value, which explodes on 1-frame phones. Why not R²? Unitless — it cannot say “we are 19.65 ms off”.</a:t>
            </a:r>
            <a:endParaRPr lang="en-US" sz="1000" dirty="0"/>
          </a:p>
        </p:txBody>
      </p:sp>
      <p:sp>
        <p:nvSpPr>
          <p:cNvPr id="9" name="mWER / CER"/>
          <p:cNvSpPr/>
          <p:nvPr/>
        </p:nvSpPr>
        <p:spPr>
          <a:xfrm>
            <a:off x="640080" y="2414016"/>
            <a:ext cx="10881360" cy="1152144"/>
          </a:xfrm>
          <a:prstGeom prst="roundRect">
            <a:avLst>
              <a:gd name="adj" fmla="val 3968"/>
            </a:avLst>
          </a:prstGeom>
          <a:solidFill>
            <a:schemeClr val="bg2"/>
          </a:solidFill>
          <a:ln w="12700">
            <a:solidFill>
              <a:srgbClr val="D7E3EA"/>
            </a:solidFill>
            <a:prstDash val="solid"/>
          </a:ln>
        </p:spPr>
      </p:sp>
      <p:sp>
        <p:nvSpPr>
          <p:cNvPr id="10" name="Text 8"/>
          <p:cNvSpPr txBox="1"/>
          <p:nvPr/>
        </p:nvSpPr>
        <p:spPr>
          <a:xfrm>
            <a:off x="841248" y="2560320"/>
            <a:ext cx="1417320" cy="365760"/>
          </a:xfrm>
          <a:prstGeom prst="rect">
            <a:avLst/>
          </a:prstGeom>
          <a:noFill/>
          <a:ln/>
        </p:spPr>
        <p:txBody>
          <a:bodyPr wrap="square" lIns="0" tIns="0" rIns="0" bIns="0" rtlCol="0" anchor="ctr"/>
          <a:lstStyle/>
          <a:p>
            <a:pPr indent="0" marL="0">
              <a:buNone/>
            </a:pPr>
            <a:r>
              <a:rPr lang="en-US" sz="1700" b="1" dirty="0">
                <a:solidFill>
                  <a:srgbClr val="065A82"/>
                </a:solidFill>
              </a:rPr>
              <a:t>WER / CER</a:t>
            </a:r>
            <a:endParaRPr lang="en-US" sz="1700" dirty="0"/>
          </a:p>
        </p:txBody>
      </p:sp>
      <p:sp>
        <p:nvSpPr>
          <p:cNvPr id="11" name="Text 9"/>
          <p:cNvSpPr txBox="1"/>
          <p:nvPr/>
        </p:nvSpPr>
        <p:spPr>
          <a:xfrm>
            <a:off x="841248" y="2962656"/>
            <a:ext cx="1417320" cy="274320"/>
          </a:xfrm>
          <a:prstGeom prst="rect">
            <a:avLst/>
          </a:prstGeom>
          <a:noFill/>
          <a:ln/>
        </p:spPr>
        <p:txBody>
          <a:bodyPr wrap="square" lIns="0" tIns="0" rIns="0" bIns="0" rtlCol="0" anchor="ctr"/>
          <a:lstStyle/>
          <a:p>
            <a:pPr indent="0" marL="0">
              <a:buNone/>
            </a:pPr>
            <a:r>
              <a:rPr lang="en-US" sz="950" dirty="0">
                <a:solidFill>
                  <a:srgbClr val="6B7A88"/>
                </a:solidFill>
              </a:rPr>
              <a:t>intelligibility</a:t>
            </a:r>
            <a:endParaRPr lang="en-US" sz="950" dirty="0"/>
          </a:p>
        </p:txBody>
      </p:sp>
      <p:sp>
        <p:nvSpPr>
          <p:cNvPr id="12" name="Text 10"/>
          <p:cNvSpPr txBox="1"/>
          <p:nvPr/>
        </p:nvSpPr>
        <p:spPr>
          <a:xfrm>
            <a:off x="2377440" y="2542032"/>
            <a:ext cx="2743200" cy="274320"/>
          </a:xfrm>
          <a:prstGeom prst="rect">
            <a:avLst/>
          </a:prstGeom>
          <a:noFill/>
          <a:ln/>
        </p:spPr>
        <p:txBody>
          <a:bodyPr wrap="square" lIns="0" tIns="0" rIns="0" bIns="0" rtlCol="0" anchor="ctr"/>
          <a:lstStyle/>
          <a:p>
            <a:pPr indent="0" marL="0">
              <a:buNone/>
            </a:pPr>
            <a:r>
              <a:rPr lang="en-US" sz="1150" b="1" dirty="0">
                <a:solidFill>
                  <a:schemeClr val="accent3"/>
                </a:solidFill>
              </a:rPr>
              <a:t>Word / Character Error Rate</a:t>
            </a:r>
            <a:endParaRPr lang="en-US" sz="1150" dirty="0"/>
          </a:p>
        </p:txBody>
      </p:sp>
      <p:sp>
        <p:nvSpPr>
          <p:cNvPr id="13" name="Text 11"/>
          <p:cNvSpPr txBox="1"/>
          <p:nvPr/>
        </p:nvSpPr>
        <p:spPr>
          <a:xfrm>
            <a:off x="2377440" y="2816352"/>
            <a:ext cx="2743200" cy="640080"/>
          </a:xfrm>
          <a:prstGeom prst="rect">
            <a:avLst/>
          </a:prstGeom>
          <a:noFill/>
          <a:ln/>
        </p:spPr>
        <p:txBody>
          <a:bodyPr wrap="square" lIns="0" tIns="0" rIns="0" bIns="0" rtlCol="0" anchor="ctr"/>
          <a:lstStyle/>
          <a:p>
            <a:pPr indent="0" marL="0">
              <a:buNone/>
            </a:pPr>
            <a:r>
              <a:rPr lang="en-US" sz="1000" dirty="0">
                <a:solidFill>
                  <a:srgbClr val="3A4A58"/>
                </a:solidFill>
              </a:rPr>
              <a:t>(substitutions + deletions + insertions) ÷ words</a:t>
            </a:r>
            <a:endParaRPr lang="en-US" sz="1000" dirty="0"/>
          </a:p>
        </p:txBody>
      </p:sp>
      <p:sp>
        <p:nvSpPr>
          <p:cNvPr id="14" name="Text 12"/>
          <p:cNvSpPr txBox="1"/>
          <p:nvPr/>
        </p:nvSpPr>
        <p:spPr>
          <a:xfrm>
            <a:off x="5349240" y="2560320"/>
            <a:ext cx="5989320" cy="868680"/>
          </a:xfrm>
          <a:prstGeom prst="rect">
            <a:avLst/>
          </a:prstGeom>
          <a:noFill/>
          <a:ln/>
        </p:spPr>
        <p:txBody>
          <a:bodyPr wrap="square" lIns="0" tIns="0" rIns="0" bIns="0" rtlCol="0" anchor="ctr"/>
          <a:lstStyle/>
          <a:p>
            <a:pPr indent="0" marL="0">
              <a:buNone/>
            </a:pPr>
            <a:r>
              <a:rPr lang="en-US" sz="1000" dirty="0">
                <a:solidFill>
                  <a:srgbClr val="3A4A58"/>
                </a:solidFill>
              </a:rPr>
              <a:t>Whisper transcribes our audio; we compare to the truth. Why not MCD? It measures spectral distance, which would just say “very different” without telling us if it is understandable. CER is reported too because WER is harsh — one wrong letter kills a whole word.</a:t>
            </a:r>
            <a:endParaRPr lang="en-US" sz="1000" dirty="0"/>
          </a:p>
        </p:txBody>
      </p:sp>
      <p:sp>
        <p:nvSpPr>
          <p:cNvPr id="15" name="mMOS"/>
          <p:cNvSpPr/>
          <p:nvPr/>
        </p:nvSpPr>
        <p:spPr>
          <a:xfrm>
            <a:off x="640080" y="3657600"/>
            <a:ext cx="10881360" cy="1152144"/>
          </a:xfrm>
          <a:prstGeom prst="roundRect">
            <a:avLst>
              <a:gd name="adj" fmla="val 3968"/>
            </a:avLst>
          </a:prstGeom>
          <a:solidFill>
            <a:schemeClr val="bg2"/>
          </a:solidFill>
          <a:ln w="12700">
            <a:solidFill>
              <a:srgbClr val="D7E3EA"/>
            </a:solidFill>
            <a:prstDash val="solid"/>
          </a:ln>
        </p:spPr>
      </p:sp>
      <p:sp>
        <p:nvSpPr>
          <p:cNvPr id="16" name="Text 14"/>
          <p:cNvSpPr txBox="1"/>
          <p:nvPr/>
        </p:nvSpPr>
        <p:spPr>
          <a:xfrm>
            <a:off x="841248" y="3803904"/>
            <a:ext cx="1417320" cy="365760"/>
          </a:xfrm>
          <a:prstGeom prst="rect">
            <a:avLst/>
          </a:prstGeom>
          <a:noFill/>
          <a:ln/>
        </p:spPr>
        <p:txBody>
          <a:bodyPr wrap="square" lIns="0" tIns="0" rIns="0" bIns="0" rtlCol="0" anchor="ctr"/>
          <a:lstStyle/>
          <a:p>
            <a:pPr indent="0" marL="0">
              <a:buNone/>
            </a:pPr>
            <a:r>
              <a:rPr lang="en-US" sz="1700" b="1" dirty="0">
                <a:solidFill>
                  <a:srgbClr val="02C39A"/>
                </a:solidFill>
              </a:rPr>
              <a:t>MOS</a:t>
            </a:r>
            <a:endParaRPr lang="en-US" sz="1700" dirty="0"/>
          </a:p>
        </p:txBody>
      </p:sp>
      <p:sp>
        <p:nvSpPr>
          <p:cNvPr id="17" name="Text 15"/>
          <p:cNvSpPr txBox="1"/>
          <p:nvPr/>
        </p:nvSpPr>
        <p:spPr>
          <a:xfrm>
            <a:off x="841248" y="4206240"/>
            <a:ext cx="1417320" cy="274320"/>
          </a:xfrm>
          <a:prstGeom prst="rect">
            <a:avLst/>
          </a:prstGeom>
          <a:noFill/>
          <a:ln/>
        </p:spPr>
        <p:txBody>
          <a:bodyPr wrap="square" lIns="0" tIns="0" rIns="0" bIns="0" rtlCol="0" anchor="ctr"/>
          <a:lstStyle/>
          <a:p>
            <a:pPr indent="0" marL="0">
              <a:buNone/>
            </a:pPr>
            <a:r>
              <a:rPr lang="en-US" sz="950" dirty="0">
                <a:solidFill>
                  <a:srgbClr val="6B7A88"/>
                </a:solidFill>
              </a:rPr>
              <a:t>naturalness</a:t>
            </a:r>
            <a:endParaRPr lang="en-US" sz="950" dirty="0"/>
          </a:p>
        </p:txBody>
      </p:sp>
      <p:sp>
        <p:nvSpPr>
          <p:cNvPr id="18" name="Text 16"/>
          <p:cNvSpPr txBox="1"/>
          <p:nvPr/>
        </p:nvSpPr>
        <p:spPr>
          <a:xfrm>
            <a:off x="2377440" y="3785616"/>
            <a:ext cx="2743200" cy="274320"/>
          </a:xfrm>
          <a:prstGeom prst="rect">
            <a:avLst/>
          </a:prstGeom>
          <a:noFill/>
          <a:ln/>
        </p:spPr>
        <p:txBody>
          <a:bodyPr wrap="square" lIns="0" tIns="0" rIns="0" bIns="0" rtlCol="0" anchor="ctr"/>
          <a:lstStyle/>
          <a:p>
            <a:pPr indent="0" marL="0">
              <a:buNone/>
            </a:pPr>
            <a:r>
              <a:rPr lang="en-US" sz="1150" b="1" dirty="0">
                <a:solidFill>
                  <a:schemeClr val="accent3"/>
                </a:solidFill>
              </a:rPr>
              <a:t>Mean Opinion Score</a:t>
            </a:r>
            <a:endParaRPr lang="en-US" sz="1150" dirty="0"/>
          </a:p>
        </p:txBody>
      </p:sp>
      <p:sp>
        <p:nvSpPr>
          <p:cNvPr id="19" name="Text 17"/>
          <p:cNvSpPr txBox="1"/>
          <p:nvPr/>
        </p:nvSpPr>
        <p:spPr>
          <a:xfrm>
            <a:off x="2377440" y="4059936"/>
            <a:ext cx="2743200" cy="640080"/>
          </a:xfrm>
          <a:prstGeom prst="rect">
            <a:avLst/>
          </a:prstGeom>
          <a:noFill/>
          <a:ln/>
        </p:spPr>
        <p:txBody>
          <a:bodyPr wrap="square" lIns="0" tIns="0" rIns="0" bIns="0" rtlCol="0" anchor="ctr"/>
          <a:lstStyle/>
          <a:p>
            <a:pPr indent="0" marL="0">
              <a:buNone/>
            </a:pPr>
            <a:r>
              <a:rPr lang="en-US" sz="1000" dirty="0">
                <a:solidFill>
                  <a:srgbClr val="3A4A58"/>
                </a:solidFill>
              </a:rPr>
              <a:t>5 listeners × 5 clips, rated 1–5 for naturalness</a:t>
            </a:r>
            <a:endParaRPr lang="en-US" sz="1000" dirty="0"/>
          </a:p>
        </p:txBody>
      </p:sp>
      <p:sp>
        <p:nvSpPr>
          <p:cNvPr id="20" name="Text 18"/>
          <p:cNvSpPr txBox="1"/>
          <p:nvPr/>
        </p:nvSpPr>
        <p:spPr>
          <a:xfrm>
            <a:off x="5349240" y="3803904"/>
            <a:ext cx="5989320" cy="868680"/>
          </a:xfrm>
          <a:prstGeom prst="rect">
            <a:avLst/>
          </a:prstGeom>
          <a:noFill/>
          <a:ln/>
        </p:spPr>
        <p:txBody>
          <a:bodyPr wrap="square" lIns="0" tIns="0" rIns="0" bIns="0" rtlCol="0" anchor="ctr"/>
          <a:lstStyle/>
          <a:p>
            <a:pPr indent="0" marL="0">
              <a:buNone/>
            </a:pPr>
            <a:r>
              <a:rPr lang="en-US" sz="1000" dirty="0">
                <a:solidFill>
                  <a:srgbClr val="3A4A58"/>
                </a:solidFill>
              </a:rPr>
              <a:t>WER is completely blind to sounding robotic. Audio can be 0% WER and still sound like a 1980s answering machine, so we need a human measure as well.</a:t>
            </a:r>
            <a:endParaRPr lang="en-US" sz="1000" dirty="0"/>
          </a:p>
        </p:txBody>
      </p:sp>
      <p:sp>
        <p:nvSpPr>
          <p:cNvPr id="21" name="mWilcoxon + paired t"/>
          <p:cNvSpPr/>
          <p:nvPr/>
        </p:nvSpPr>
        <p:spPr>
          <a:xfrm>
            <a:off x="640080" y="4901184"/>
            <a:ext cx="10881360" cy="1152144"/>
          </a:xfrm>
          <a:prstGeom prst="roundRect">
            <a:avLst>
              <a:gd name="adj" fmla="val 3968"/>
            </a:avLst>
          </a:prstGeom>
          <a:solidFill>
            <a:schemeClr val="bg2"/>
          </a:solidFill>
          <a:ln w="12700">
            <a:solidFill>
              <a:srgbClr val="D7E3EA"/>
            </a:solidFill>
            <a:prstDash val="solid"/>
          </a:ln>
        </p:spPr>
      </p:sp>
      <p:sp>
        <p:nvSpPr>
          <p:cNvPr id="22" name="Text 20"/>
          <p:cNvSpPr txBox="1"/>
          <p:nvPr/>
        </p:nvSpPr>
        <p:spPr>
          <a:xfrm>
            <a:off x="841248" y="5047488"/>
            <a:ext cx="1417320" cy="365760"/>
          </a:xfrm>
          <a:prstGeom prst="rect">
            <a:avLst/>
          </a:prstGeom>
          <a:noFill/>
          <a:ln/>
        </p:spPr>
        <p:txBody>
          <a:bodyPr wrap="square" lIns="0" tIns="0" rIns="0" bIns="0" rtlCol="0" anchor="ctr"/>
          <a:lstStyle/>
          <a:p>
            <a:pPr indent="0" marL="0">
              <a:buNone/>
            </a:pPr>
            <a:r>
              <a:rPr lang="en-US" sz="1700" b="1" dirty="0">
                <a:solidFill>
                  <a:srgbClr val="B85042"/>
                </a:solidFill>
              </a:rPr>
              <a:t>Wilcoxon + paired t</a:t>
            </a:r>
            <a:endParaRPr lang="en-US" sz="1700" dirty="0"/>
          </a:p>
        </p:txBody>
      </p:sp>
      <p:sp>
        <p:nvSpPr>
          <p:cNvPr id="23" name="Text 21"/>
          <p:cNvSpPr txBox="1"/>
          <p:nvPr/>
        </p:nvSpPr>
        <p:spPr>
          <a:xfrm>
            <a:off x="841248" y="5449824"/>
            <a:ext cx="1417320" cy="274320"/>
          </a:xfrm>
          <a:prstGeom prst="rect">
            <a:avLst/>
          </a:prstGeom>
          <a:noFill/>
          <a:ln/>
        </p:spPr>
        <p:txBody>
          <a:bodyPr wrap="square" lIns="0" tIns="0" rIns="0" bIns="0" rtlCol="0" anchor="ctr"/>
          <a:lstStyle/>
          <a:p>
            <a:pPr indent="0" marL="0">
              <a:buNone/>
            </a:pPr>
            <a:r>
              <a:rPr lang="en-US" sz="950" dirty="0">
                <a:solidFill>
                  <a:srgbClr val="6B7A88"/>
                </a:solidFill>
              </a:rPr>
              <a:t>both comparisons</a:t>
            </a:r>
            <a:endParaRPr lang="en-US" sz="950" dirty="0"/>
          </a:p>
        </p:txBody>
      </p:sp>
      <p:sp>
        <p:nvSpPr>
          <p:cNvPr id="24" name="Text 22"/>
          <p:cNvSpPr txBox="1"/>
          <p:nvPr/>
        </p:nvSpPr>
        <p:spPr>
          <a:xfrm>
            <a:off x="2377440" y="5029200"/>
            <a:ext cx="2743200" cy="274320"/>
          </a:xfrm>
          <a:prstGeom prst="rect">
            <a:avLst/>
          </a:prstGeom>
          <a:noFill/>
          <a:ln/>
        </p:spPr>
        <p:txBody>
          <a:bodyPr wrap="square" lIns="0" tIns="0" rIns="0" bIns="0" rtlCol="0" anchor="ctr"/>
          <a:lstStyle/>
          <a:p>
            <a:pPr indent="0" marL="0">
              <a:buNone/>
            </a:pPr>
            <a:r>
              <a:rPr lang="en-US" sz="1150" b="1" dirty="0">
                <a:solidFill>
                  <a:schemeClr val="accent3"/>
                </a:solidFill>
              </a:rPr>
              <a:t>Significance tests</a:t>
            </a:r>
            <a:endParaRPr lang="en-US" sz="1150" dirty="0"/>
          </a:p>
        </p:txBody>
      </p:sp>
      <p:sp>
        <p:nvSpPr>
          <p:cNvPr id="25" name="Text 23"/>
          <p:cNvSpPr txBox="1"/>
          <p:nvPr/>
        </p:nvSpPr>
        <p:spPr>
          <a:xfrm>
            <a:off x="2377440" y="5303520"/>
            <a:ext cx="2743200" cy="640080"/>
          </a:xfrm>
          <a:prstGeom prst="rect">
            <a:avLst/>
          </a:prstGeom>
          <a:noFill/>
          <a:ln/>
        </p:spPr>
        <p:txBody>
          <a:bodyPr wrap="square" lIns="0" tIns="0" rIns="0" bIns="0" rtlCol="0" anchor="ctr"/>
          <a:lstStyle/>
          <a:p>
            <a:pPr indent="0" marL="0">
              <a:buNone/>
            </a:pPr>
            <a:r>
              <a:rPr lang="en-US" sz="1000" dirty="0">
                <a:solidFill>
                  <a:srgbClr val="3A4A58"/>
                </a:solidFill>
              </a:rPr>
              <a:t>is the A1 vs A2 difference real, or noise?</a:t>
            </a:r>
            <a:endParaRPr lang="en-US" sz="1000" dirty="0"/>
          </a:p>
        </p:txBody>
      </p:sp>
      <p:sp>
        <p:nvSpPr>
          <p:cNvPr id="26" name="Text 24"/>
          <p:cNvSpPr txBox="1"/>
          <p:nvPr/>
        </p:nvSpPr>
        <p:spPr>
          <a:xfrm>
            <a:off x="5349240" y="5047488"/>
            <a:ext cx="5989320" cy="868680"/>
          </a:xfrm>
          <a:prstGeom prst="rect">
            <a:avLst/>
          </a:prstGeom>
          <a:noFill/>
          <a:ln/>
        </p:spPr>
        <p:txBody>
          <a:bodyPr wrap="square" lIns="0" tIns="0" rIns="0" bIns="0" rtlCol="0" anchor="ctr"/>
          <a:lstStyle/>
          <a:p>
            <a:pPr indent="0" marL="0">
              <a:buNone/>
            </a:pPr>
            <a:r>
              <a:rPr lang="en-US" sz="1000" dirty="0">
                <a:solidFill>
                  <a:srgbClr val="3A4A58"/>
                </a:solidFill>
              </a:rPr>
              <a:t>Paired, because the same clips go through both systems. Wilcoxon because per-clip WER is skewed, bounded at 0 and full of ties. We report BOTH because they disagree — quoting only the one under 0.05 would be cherry-picking.</a:t>
            </a:r>
            <a:endParaRPr lang="en-US" sz="1000" dirty="0"/>
          </a:p>
        </p:txBody>
      </p:sp>
      <p:sp>
        <p:nvSpPr>
          <p:cNvPr id="27" name="Text 25"/>
          <p:cNvSpPr txBox="1"/>
          <p:nvPr/>
        </p:nvSpPr>
        <p:spPr>
          <a:xfrm>
            <a:off x="640080" y="6217920"/>
            <a:ext cx="10881360" cy="365760"/>
          </a:xfrm>
          <a:prstGeom prst="rect">
            <a:avLst/>
          </a:prstGeom>
          <a:noFill/>
          <a:ln/>
        </p:spPr>
        <p:txBody>
          <a:bodyPr wrap="square" lIns="0" tIns="0" rIns="0" bIns="0" rtlCol="0" anchor="ctr"/>
          <a:lstStyle/>
          <a:p>
            <a:pPr indent="0" marL="0">
              <a:buNone/>
            </a:pPr>
            <a:r>
              <a:rPr lang="en-US" sz="1100" b="1" i="1" dirty="0">
                <a:solidFill>
                  <a:schemeClr val="accent6"/>
                </a:solidFill>
              </a:rPr>
              <a:t>We validated the ruler first: Whisper on the REAL recordings scored 1.85% WER. If that had come out at 40%, every other number would be worthless.</a:t>
            </a:r>
            <a:endParaRPr lang="en-US" sz="1100" dirty="0"/>
          </a:p>
        </p:txBody>
      </p:sp>
      <p:sp>
        <p:nvSpPr>
          <p:cNvPr id="25" name="Slide Number Placeholder 0"/>
          <p:cNvSpPr>
            <a:spLocks noGrp="1"/>
          </p:cNvSpPr>
          <p:nvPr>
            <p:ph type="sldNum" sz="quarter" idx="4294967295"/>
          </p:nvPr>
        </p:nvSpPr>
        <p:spPr>
          <a:xfrm>
            <a:off x="113842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7B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881360" cy="658368"/>
          </a:xfrm>
          <a:prstGeom prst="rect">
            <a:avLst/>
          </a:prstGeom>
          <a:noFill/>
          <a:ln/>
        </p:spPr>
        <p:txBody>
          <a:bodyPr wrap="square" rtlCol="0"/>
          <a:lstStyle/>
          <a:p>
            <a:pPr algn="l" indent="0" marL="0">
              <a:buNone/>
            </a:pPr>
            <a:r>
              <a:rPr lang="en-US" sz="3200" b="1" dirty="0">
                <a:solidFill>
                  <a:schemeClr val="accent3"/>
                </a:solidFill>
              </a:rPr>
              <a:t>Results</a:t>
            </a:r>
            <a:endParaRPr lang="en-US" sz="3200" dirty="0"/>
          </a:p>
        </p:txBody>
      </p:sp>
      <p:sp>
        <p:nvSpPr>
          <p:cNvPr id="3" name="Text 1"/>
          <p:cNvSpPr txBox="1"/>
          <p:nvPr/>
        </p:nvSpPr>
        <p:spPr>
          <a:xfrm>
            <a:off x="640080" y="1097280"/>
            <a:ext cx="5394960" cy="274320"/>
          </a:xfrm>
          <a:prstGeom prst="rect">
            <a:avLst/>
          </a:prstGeom>
          <a:noFill/>
          <a:ln/>
        </p:spPr>
        <p:txBody>
          <a:bodyPr wrap="square" lIns="0" tIns="0" rIns="0" bIns="0" rtlCol="0" anchor="ctr"/>
          <a:lstStyle/>
          <a:p>
            <a:pPr indent="0" marL="0">
              <a:buNone/>
            </a:pPr>
            <a:r>
              <a:rPr lang="en-US" sz="1250" b="1" dirty="0">
                <a:solidFill>
                  <a:schemeClr val="accent1"/>
                </a:solidFill>
              </a:rPr>
              <a:t>1 — Duration model, on 299 clips from an unseen book</a:t>
            </a:r>
            <a:endParaRPr lang="en-US" sz="1250" dirty="0"/>
          </a:p>
        </p:txBody>
      </p:sp>
      <p:graphicFrame>
        <p:nvGraphicFramePr>
          <p:cNvPr id="7" name="durTable"/>
          <p:cNvGraphicFramePr>
            <a:graphicFrameLocks noGrp="1"/>
          </p:cNvGraphicFramePr>
          <p:nvPr>
            <p:extLst>
              <p:ext uri="{D42A27DB-BD31-4B8C-83A1-F6EECF244321}">
                <p14:modId xmlns:p14="http://schemas.microsoft.com/office/powerpoint/2010/main" val="1579011935"/>
              </p:ext>
            </p:extLst>
          </p:nvPr>
        </p:nvGraphicFramePr>
        <p:xfrm>
          <a:off x="640080" y="1408176"/>
          <a:ext cx="5394960" cy="914400"/>
        </p:xfrm>
        <a:graphic>
          <a:graphicData uri="http://schemas.openxmlformats.org/drawingml/2006/table">
            <a:tbl>
              <a:tblPr/>
              <a:tblGrid>
                <a:gridCol w="1828800"/>
                <a:gridCol w="1234440"/>
                <a:gridCol w="1143000"/>
                <a:gridCol w="1188720"/>
              </a:tblGrid>
              <a:tr h="329184">
                <a:tc>
                  <a:txBody>
                    <a:bodyPr/>
                    <a:lstStyle/>
                    <a:p>
                      <a:pPr indent="0" marL="0">
                        <a:buNone/>
                      </a:pPr>
                      <a:r>
                        <a:rPr lang="en-US" sz="1050" b="1" dirty="0">
                          <a:solidFill>
                            <a:srgbClr val="FFFFFF"/>
                          </a:solidFill>
                        </a:rPr>
                        <a:t>Model</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065A82"/>
                    </a:solidFill>
                  </a:tcPr>
                </a:tc>
                <a:tc>
                  <a:txBody>
                    <a:bodyPr/>
                    <a:lstStyle/>
                    <a:p>
                      <a:pPr indent="0" marL="0">
                        <a:buNone/>
                      </a:pPr>
                      <a:r>
                        <a:rPr lang="en-US" sz="1050" b="1" dirty="0">
                          <a:solidFill>
                            <a:srgbClr val="FFFFFF"/>
                          </a:solidFill>
                        </a:rPr>
                        <a:t>MAE frames</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065A82"/>
                    </a:solidFill>
                  </a:tcPr>
                </a:tc>
                <a:tc>
                  <a:txBody>
                    <a:bodyPr/>
                    <a:lstStyle/>
                    <a:p>
                      <a:pPr indent="0" marL="0">
                        <a:buNone/>
                      </a:pPr>
                      <a:r>
                        <a:rPr lang="en-US" sz="1050" b="1" dirty="0">
                          <a:solidFill>
                            <a:srgbClr val="FFFFFF"/>
                          </a:solidFill>
                        </a:rPr>
                        <a:t>MAE ms</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065A82"/>
                    </a:solidFill>
                  </a:tcPr>
                </a:tc>
                <a:tc>
                  <a:txBody>
                    <a:bodyPr/>
                    <a:lstStyle/>
                    <a:p>
                      <a:pPr indent="0" marL="0">
                        <a:buNone/>
                      </a:pPr>
                      <a:r>
                        <a:rPr lang="en-US" sz="1050" b="1" dirty="0">
                          <a:solidFill>
                            <a:srgbClr val="FFFFFF"/>
                          </a:solidFill>
                        </a:rPr>
                        <a:t>no silence</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065A82"/>
                    </a:solidFill>
                  </a:tcPr>
                </a:tc>
              </a:tr>
              <a:tr h="329184">
                <a:tc>
                  <a:txBody>
                    <a:bodyPr/>
                    <a:lstStyle/>
                    <a:p>
                      <a:pPr indent="0" marL="0">
                        <a:buNone/>
                      </a:pPr>
                      <a:r>
                        <a:rPr lang="en-US" sz="1050" dirty="0">
                          <a:solidFill>
                            <a:srgbClr val="3A4A58"/>
                          </a:solidFill>
                        </a:rPr>
                        <a:t>Per-phone mean</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dirty="0">
                          <a:solidFill>
                            <a:srgbClr val="3A4A58"/>
                          </a:solidFill>
                        </a:rPr>
                        <a:t>2.637</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dirty="0">
                          <a:solidFill>
                            <a:srgbClr val="3A4A58"/>
                          </a:solidFill>
                        </a:rPr>
                        <a:t>30.61</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dirty="0">
                          <a:solidFill>
                            <a:srgbClr val="3A4A58"/>
                          </a:solidFill>
                        </a:rPr>
                        <a:t>26.88</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r>
              <a:tr h="329184">
                <a:tc>
                  <a:txBody>
                    <a:bodyPr/>
                    <a:lstStyle/>
                    <a:p>
                      <a:pPr indent="0" marL="0">
                        <a:buNone/>
                      </a:pPr>
                      <a:r>
                        <a:rPr lang="en-US" sz="1050" dirty="0">
                          <a:solidFill>
                            <a:srgbClr val="3A4A58"/>
                          </a:solidFill>
                        </a:rPr>
                        <a:t>Ridge</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dirty="0">
                          <a:solidFill>
                            <a:srgbClr val="3A4A58"/>
                          </a:solidFill>
                        </a:rPr>
                        <a:t>2.338</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dirty="0">
                          <a:solidFill>
                            <a:srgbClr val="3A4A58"/>
                          </a:solidFill>
                        </a:rPr>
                        <a:t>27.14</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dirty="0">
                          <a:solidFill>
                            <a:srgbClr val="3A4A58"/>
                          </a:solidFill>
                        </a:rPr>
                        <a:t>23.31</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r>
              <a:tr h="329184">
                <a:tc>
                  <a:txBody>
                    <a:bodyPr/>
                    <a:lstStyle/>
                    <a:p>
                      <a:pPr indent="0" marL="0">
                        <a:buNone/>
                      </a:pPr>
                      <a:r>
                        <a:rPr lang="en-US" sz="1050" b="1" dirty="0">
                          <a:solidFill>
                            <a:srgbClr val="02C39A"/>
                          </a:solidFill>
                        </a:rPr>
                        <a:t>Boosted trees</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b="1" dirty="0">
                          <a:solidFill>
                            <a:srgbClr val="02C39A"/>
                          </a:solidFill>
                        </a:rPr>
                        <a:t>1.693</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b="1" dirty="0">
                          <a:solidFill>
                            <a:srgbClr val="02C39A"/>
                          </a:solidFill>
                        </a:rPr>
                        <a:t>19.65</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b="1" dirty="0">
                          <a:solidFill>
                            <a:srgbClr val="02C39A"/>
                          </a:solidFill>
                        </a:rPr>
                        <a:t>16.84</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r>
            </a:tbl>
          </a:graphicData>
        </a:graphic>
      </p:graphicFrame>
      <p:sp>
        <p:nvSpPr>
          <p:cNvPr id="5" name="Text 2"/>
          <p:cNvSpPr txBox="1"/>
          <p:nvPr/>
        </p:nvSpPr>
        <p:spPr>
          <a:xfrm>
            <a:off x="640080" y="2798064"/>
            <a:ext cx="5394960" cy="457200"/>
          </a:xfrm>
          <a:prstGeom prst="rect">
            <a:avLst/>
          </a:prstGeom>
          <a:noFill/>
          <a:ln/>
        </p:spPr>
        <p:txBody>
          <a:bodyPr wrap="square" lIns="0" tIns="0" rIns="0" bIns="0" rtlCol="0" anchor="ctr"/>
          <a:lstStyle/>
          <a:p>
            <a:pPr indent="0" marL="0">
              <a:buNone/>
            </a:pPr>
            <a:r>
              <a:rPr lang="en-US" sz="1000" i="1" dirty="0">
                <a:solidFill>
                  <a:srgbClr val="6B7A88"/>
                </a:solidFill>
              </a:rPr>
              <a:t>Reported twice because silence is only 5.3% of phones but averages 14.6 frames against 7.4 — it would otherwise swamp the headline.</a:t>
            </a:r>
            <a:endParaRPr lang="en-US" sz="1000" dirty="0"/>
          </a:p>
        </p:txBody>
      </p:sp>
      <p:sp>
        <p:nvSpPr>
          <p:cNvPr id="6" name="Text 3"/>
          <p:cNvSpPr txBox="1"/>
          <p:nvPr/>
        </p:nvSpPr>
        <p:spPr>
          <a:xfrm>
            <a:off x="640080" y="3291840"/>
            <a:ext cx="5394960" cy="274320"/>
          </a:xfrm>
          <a:prstGeom prst="rect">
            <a:avLst/>
          </a:prstGeom>
          <a:noFill/>
          <a:ln/>
        </p:spPr>
        <p:txBody>
          <a:bodyPr wrap="square" lIns="0" tIns="0" rIns="0" bIns="0" rtlCol="0" anchor="ctr"/>
          <a:lstStyle/>
          <a:p>
            <a:pPr indent="0" marL="0">
              <a:buNone/>
            </a:pPr>
            <a:r>
              <a:rPr lang="en-US" sz="1250" b="1" dirty="0">
                <a:solidFill>
                  <a:schemeClr val="accent1"/>
                </a:solidFill>
              </a:rPr>
              <a:t>Top features (permutation importance)</a:t>
            </a:r>
            <a:endParaRPr lang="en-US" sz="1250" dirty="0"/>
          </a:p>
        </p:txBody>
      </p:sp>
      <p:sp>
        <p:nvSpPr>
          <p:cNvPr id="7" name="Text 4"/>
          <p:cNvSpPr txBox="1"/>
          <p:nvPr/>
        </p:nvSpPr>
        <p:spPr>
          <a:xfrm>
            <a:off x="640080" y="3621024"/>
            <a:ext cx="1508760" cy="237744"/>
          </a:xfrm>
          <a:prstGeom prst="rect">
            <a:avLst/>
          </a:prstGeom>
          <a:noFill/>
          <a:ln/>
        </p:spPr>
        <p:txBody>
          <a:bodyPr wrap="square" lIns="0" tIns="0" rIns="0" bIns="0" rtlCol="0" anchor="ctr"/>
          <a:lstStyle/>
          <a:p>
            <a:pPr indent="0" marL="0">
              <a:buNone/>
            </a:pPr>
            <a:r>
              <a:rPr lang="en-US" sz="1050" dirty="0">
                <a:solidFill>
                  <a:srgbClr val="3A4A58"/>
                </a:solidFill>
              </a:rPr>
              <a:t>phone</a:t>
            </a:r>
            <a:endParaRPr lang="en-US" sz="1050" dirty="0"/>
          </a:p>
        </p:txBody>
      </p:sp>
      <p:sp>
        <p:nvSpPr>
          <p:cNvPr id="8" name="fbphone"/>
          <p:cNvSpPr/>
          <p:nvPr/>
        </p:nvSpPr>
        <p:spPr>
          <a:xfrm>
            <a:off x="2194560" y="3666744"/>
            <a:ext cx="2743200" cy="155448"/>
          </a:xfrm>
          <a:prstGeom prst="rect">
            <a:avLst/>
          </a:prstGeom>
          <a:solidFill>
            <a:srgbClr val="1C7293"/>
          </a:solidFill>
          <a:ln/>
        </p:spPr>
      </p:sp>
      <p:sp>
        <p:nvSpPr>
          <p:cNvPr id="9" name="Text 6"/>
          <p:cNvSpPr txBox="1"/>
          <p:nvPr/>
        </p:nvSpPr>
        <p:spPr>
          <a:xfrm>
            <a:off x="5029200" y="3621024"/>
            <a:ext cx="914400" cy="237744"/>
          </a:xfrm>
          <a:prstGeom prst="rect">
            <a:avLst/>
          </a:prstGeom>
          <a:noFill/>
          <a:ln/>
        </p:spPr>
        <p:txBody>
          <a:bodyPr wrap="square" lIns="0" tIns="0" rIns="0" bIns="0" rtlCol="0" anchor="ctr"/>
          <a:lstStyle/>
          <a:p>
            <a:pPr indent="0" marL="0">
              <a:buNone/>
            </a:pPr>
            <a:r>
              <a:rPr lang="en-US" sz="950" dirty="0">
                <a:solidFill>
                  <a:srgbClr val="6B7A88"/>
                </a:solidFill>
              </a:rPr>
              <a:t>0.263</a:t>
            </a:r>
            <a:endParaRPr lang="en-US" sz="950" dirty="0"/>
          </a:p>
        </p:txBody>
      </p:sp>
      <p:sp>
        <p:nvSpPr>
          <p:cNvPr id="10" name="Text 7"/>
          <p:cNvSpPr txBox="1"/>
          <p:nvPr/>
        </p:nvSpPr>
        <p:spPr>
          <a:xfrm>
            <a:off x="640080" y="3913632"/>
            <a:ext cx="1508760" cy="237744"/>
          </a:xfrm>
          <a:prstGeom prst="rect">
            <a:avLst/>
          </a:prstGeom>
          <a:noFill/>
          <a:ln/>
        </p:spPr>
        <p:txBody>
          <a:bodyPr wrap="square" lIns="0" tIns="0" rIns="0" bIns="0" rtlCol="0" anchor="ctr"/>
          <a:lstStyle/>
          <a:p>
            <a:pPr indent="0" marL="0">
              <a:buNone/>
            </a:pPr>
            <a:r>
              <a:rPr lang="en-US" sz="1050" dirty="0">
                <a:solidFill>
                  <a:srgbClr val="3A4A58"/>
                </a:solidFill>
              </a:rPr>
              <a:t>next_phone</a:t>
            </a:r>
            <a:endParaRPr lang="en-US" sz="1050" dirty="0"/>
          </a:p>
        </p:txBody>
      </p:sp>
      <p:sp>
        <p:nvSpPr>
          <p:cNvPr id="11" name="fbnext_phone"/>
          <p:cNvSpPr/>
          <p:nvPr/>
        </p:nvSpPr>
        <p:spPr>
          <a:xfrm>
            <a:off x="2194560" y="3959352"/>
            <a:ext cx="1148442" cy="155448"/>
          </a:xfrm>
          <a:prstGeom prst="rect">
            <a:avLst/>
          </a:prstGeom>
          <a:solidFill>
            <a:srgbClr val="1C7293"/>
          </a:solidFill>
          <a:ln/>
        </p:spPr>
      </p:sp>
      <p:sp>
        <p:nvSpPr>
          <p:cNvPr id="12" name="Text 9"/>
          <p:cNvSpPr txBox="1"/>
          <p:nvPr/>
        </p:nvSpPr>
        <p:spPr>
          <a:xfrm>
            <a:off x="5029200" y="3913632"/>
            <a:ext cx="914400" cy="237744"/>
          </a:xfrm>
          <a:prstGeom prst="rect">
            <a:avLst/>
          </a:prstGeom>
          <a:noFill/>
          <a:ln/>
        </p:spPr>
        <p:txBody>
          <a:bodyPr wrap="square" lIns="0" tIns="0" rIns="0" bIns="0" rtlCol="0" anchor="ctr"/>
          <a:lstStyle/>
          <a:p>
            <a:pPr indent="0" marL="0">
              <a:buNone/>
            </a:pPr>
            <a:r>
              <a:rPr lang="en-US" sz="950" dirty="0">
                <a:solidFill>
                  <a:srgbClr val="6B7A88"/>
                </a:solidFill>
              </a:rPr>
              <a:t>0.110</a:t>
            </a:r>
            <a:endParaRPr lang="en-US" sz="950" dirty="0"/>
          </a:p>
        </p:txBody>
      </p:sp>
      <p:sp>
        <p:nvSpPr>
          <p:cNvPr id="13" name="Text 10"/>
          <p:cNvSpPr txBox="1"/>
          <p:nvPr/>
        </p:nvSpPr>
        <p:spPr>
          <a:xfrm>
            <a:off x="640080" y="4206240"/>
            <a:ext cx="1508760" cy="237744"/>
          </a:xfrm>
          <a:prstGeom prst="rect">
            <a:avLst/>
          </a:prstGeom>
          <a:noFill/>
          <a:ln/>
        </p:spPr>
        <p:txBody>
          <a:bodyPr wrap="square" lIns="0" tIns="0" rIns="0" bIns="0" rtlCol="0" anchor="ctr"/>
          <a:lstStyle/>
          <a:p>
            <a:pPr indent="0" marL="0">
              <a:buNone/>
            </a:pPr>
            <a:r>
              <a:rPr lang="en-US" sz="1050" dirty="0">
                <a:solidFill>
                  <a:srgbClr val="3A4A58"/>
                </a:solidFill>
              </a:rPr>
              <a:t>prev_phone</a:t>
            </a:r>
            <a:endParaRPr lang="en-US" sz="1050" dirty="0"/>
          </a:p>
        </p:txBody>
      </p:sp>
      <p:sp>
        <p:nvSpPr>
          <p:cNvPr id="14" name="fbprev_phone"/>
          <p:cNvSpPr/>
          <p:nvPr/>
        </p:nvSpPr>
        <p:spPr>
          <a:xfrm>
            <a:off x="2194560" y="4251960"/>
            <a:ext cx="1101259" cy="155448"/>
          </a:xfrm>
          <a:prstGeom prst="rect">
            <a:avLst/>
          </a:prstGeom>
          <a:solidFill>
            <a:srgbClr val="1C7293"/>
          </a:solidFill>
          <a:ln/>
        </p:spPr>
      </p:sp>
      <p:sp>
        <p:nvSpPr>
          <p:cNvPr id="15" name="Text 12"/>
          <p:cNvSpPr txBox="1"/>
          <p:nvPr/>
        </p:nvSpPr>
        <p:spPr>
          <a:xfrm>
            <a:off x="5029200" y="4206240"/>
            <a:ext cx="914400" cy="237744"/>
          </a:xfrm>
          <a:prstGeom prst="rect">
            <a:avLst/>
          </a:prstGeom>
          <a:noFill/>
          <a:ln/>
        </p:spPr>
        <p:txBody>
          <a:bodyPr wrap="square" lIns="0" tIns="0" rIns="0" bIns="0" rtlCol="0" anchor="ctr"/>
          <a:lstStyle/>
          <a:p>
            <a:pPr indent="0" marL="0">
              <a:buNone/>
            </a:pPr>
            <a:r>
              <a:rPr lang="en-US" sz="950" dirty="0">
                <a:solidFill>
                  <a:srgbClr val="6B7A88"/>
                </a:solidFill>
              </a:rPr>
              <a:t>0.106</a:t>
            </a:r>
            <a:endParaRPr lang="en-US" sz="950" dirty="0"/>
          </a:p>
        </p:txBody>
      </p:sp>
      <p:sp>
        <p:nvSpPr>
          <p:cNvPr id="16" name="Text 13"/>
          <p:cNvSpPr txBox="1"/>
          <p:nvPr/>
        </p:nvSpPr>
        <p:spPr>
          <a:xfrm>
            <a:off x="640080" y="4498848"/>
            <a:ext cx="1508760" cy="237744"/>
          </a:xfrm>
          <a:prstGeom prst="rect">
            <a:avLst/>
          </a:prstGeom>
          <a:noFill/>
          <a:ln/>
        </p:spPr>
        <p:txBody>
          <a:bodyPr wrap="square" lIns="0" tIns="0" rIns="0" bIns="0" rtlCol="0" anchor="ctr"/>
          <a:lstStyle/>
          <a:p>
            <a:pPr indent="0" marL="0">
              <a:buNone/>
            </a:pPr>
            <a:r>
              <a:rPr lang="en-US" sz="1050" dirty="0">
                <a:solidFill>
                  <a:srgbClr val="3A4A58"/>
                </a:solidFill>
              </a:rPr>
              <a:t>dist_sil_right</a:t>
            </a:r>
            <a:endParaRPr lang="en-US" sz="1050" dirty="0"/>
          </a:p>
        </p:txBody>
      </p:sp>
      <p:sp>
        <p:nvSpPr>
          <p:cNvPr id="17" name="fbdist_sil_right"/>
          <p:cNvSpPr/>
          <p:nvPr/>
        </p:nvSpPr>
        <p:spPr>
          <a:xfrm>
            <a:off x="2194560" y="4544568"/>
            <a:ext cx="323618" cy="155448"/>
          </a:xfrm>
          <a:prstGeom prst="rect">
            <a:avLst/>
          </a:prstGeom>
          <a:solidFill>
            <a:srgbClr val="02C39A"/>
          </a:solidFill>
          <a:ln/>
        </p:spPr>
      </p:sp>
      <p:sp>
        <p:nvSpPr>
          <p:cNvPr id="18" name="Text 15"/>
          <p:cNvSpPr txBox="1"/>
          <p:nvPr/>
        </p:nvSpPr>
        <p:spPr>
          <a:xfrm>
            <a:off x="5029200" y="4498848"/>
            <a:ext cx="914400" cy="237744"/>
          </a:xfrm>
          <a:prstGeom prst="rect">
            <a:avLst/>
          </a:prstGeom>
          <a:noFill/>
          <a:ln/>
        </p:spPr>
        <p:txBody>
          <a:bodyPr wrap="square" lIns="0" tIns="0" rIns="0" bIns="0" rtlCol="0" anchor="ctr"/>
          <a:lstStyle/>
          <a:p>
            <a:pPr indent="0" marL="0">
              <a:buNone/>
            </a:pPr>
            <a:r>
              <a:rPr lang="en-US" sz="950" dirty="0">
                <a:solidFill>
                  <a:srgbClr val="6B7A88"/>
                </a:solidFill>
              </a:rPr>
              <a:t>0.031</a:t>
            </a:r>
            <a:endParaRPr lang="en-US" sz="950" dirty="0"/>
          </a:p>
        </p:txBody>
      </p:sp>
      <p:sp>
        <p:nvSpPr>
          <p:cNvPr id="19" name="Text 16"/>
          <p:cNvSpPr txBox="1"/>
          <p:nvPr/>
        </p:nvSpPr>
        <p:spPr>
          <a:xfrm>
            <a:off x="640080" y="4846320"/>
            <a:ext cx="5394960" cy="548640"/>
          </a:xfrm>
          <a:prstGeom prst="rect">
            <a:avLst/>
          </a:prstGeom>
          <a:noFill/>
          <a:ln/>
        </p:spPr>
        <p:txBody>
          <a:bodyPr wrap="square" lIns="0" tIns="0" rIns="0" bIns="0" rtlCol="0" anchor="ctr"/>
          <a:lstStyle/>
          <a:p>
            <a:pPr indent="0" marL="0">
              <a:buNone/>
            </a:pPr>
            <a:r>
              <a:rPr lang="en-US" sz="1000" i="1" dirty="0">
                <a:solidFill>
                  <a:schemeClr val="accent3"/>
                </a:solidFill>
              </a:rPr>
              <a:t>dist_sil_right is 19x more important than dist_sil_left — the model found PRE-pausal lengthening on its own: sounds stretch before an upcoming pause, not after a past one.</a:t>
            </a:r>
            <a:endParaRPr lang="en-US" sz="1000" dirty="0"/>
          </a:p>
        </p:txBody>
      </p:sp>
      <p:sp>
        <p:nvSpPr>
          <p:cNvPr id="20" name="Text 17"/>
          <p:cNvSpPr txBox="1"/>
          <p:nvPr/>
        </p:nvSpPr>
        <p:spPr>
          <a:xfrm>
            <a:off x="6309360" y="1097280"/>
            <a:ext cx="5212080" cy="274320"/>
          </a:xfrm>
          <a:prstGeom prst="rect">
            <a:avLst/>
          </a:prstGeom>
          <a:noFill/>
          <a:ln/>
        </p:spPr>
        <p:txBody>
          <a:bodyPr wrap="square" lIns="0" tIns="0" rIns="0" bIns="0" rtlCol="0" anchor="ctr"/>
          <a:lstStyle/>
          <a:p>
            <a:pPr indent="0" marL="0">
              <a:buNone/>
            </a:pPr>
            <a:r>
              <a:rPr lang="en-US" sz="1250" b="1" dirty="0">
                <a:solidFill>
                  <a:schemeClr val="accent1"/>
                </a:solidFill>
              </a:rPr>
              <a:t>2 — The four systems, 100 clips each</a:t>
            </a:r>
            <a:endParaRPr lang="en-US" sz="1250" dirty="0"/>
          </a:p>
        </p:txBody>
      </p:sp>
      <p:graphicFrame>
        <p:nvGraphicFramePr>
          <p:cNvPr id="13" name="sysTable"/>
          <p:cNvGraphicFramePr>
            <a:graphicFrameLocks noGrp="1"/>
          </p:cNvGraphicFramePr>
          <p:nvPr>
            <p:extLst>
              <p:ext uri="{D42A27DB-BD31-4B8C-83A1-F6EECF244321}">
                <p14:modId xmlns:p14="http://schemas.microsoft.com/office/powerpoint/2010/main" val="1579011935"/>
              </p:ext>
            </p:extLst>
          </p:nvPr>
        </p:nvGraphicFramePr>
        <p:xfrm>
          <a:off x="6309360" y="1408176"/>
          <a:ext cx="5212080" cy="914400"/>
        </p:xfrm>
        <a:graphic>
          <a:graphicData uri="http://schemas.openxmlformats.org/drawingml/2006/table">
            <a:tbl>
              <a:tblPr/>
              <a:tblGrid>
                <a:gridCol w="777240"/>
                <a:gridCol w="2240280"/>
                <a:gridCol w="1097280"/>
                <a:gridCol w="1097280"/>
              </a:tblGrid>
              <a:tr h="329184">
                <a:tc>
                  <a:txBody>
                    <a:bodyPr/>
                    <a:lstStyle/>
                    <a:p>
                      <a:pPr indent="0" marL="0">
                        <a:buNone/>
                      </a:pPr>
                      <a:r>
                        <a:rPr lang="en-US" sz="1050" b="1" dirty="0">
                          <a:solidFill>
                            <a:srgbClr val="FFFFFF"/>
                          </a:solidFill>
                        </a:rPr>
                        <a:t>System</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065A82"/>
                    </a:solidFill>
                  </a:tcPr>
                </a:tc>
                <a:tc>
                  <a:txBody>
                    <a:bodyPr/>
                    <a:lstStyle/>
                    <a:p>
                      <a:pPr indent="0" marL="0">
                        <a:buNone/>
                      </a:pPr>
                      <a:r>
                        <a:rPr lang="en-US" sz="1050" b="1" dirty="0">
                          <a:solidFill>
                            <a:srgbClr val="FFFFFF"/>
                          </a:solidFill>
                        </a:rPr>
                        <a:t>What it is</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065A82"/>
                    </a:solidFill>
                  </a:tcPr>
                </a:tc>
                <a:tc>
                  <a:txBody>
                    <a:bodyPr/>
                    <a:lstStyle/>
                    <a:p>
                      <a:pPr indent="0" marL="0">
                        <a:buNone/>
                      </a:pPr>
                      <a:r>
                        <a:rPr lang="en-US" sz="1050" b="1" dirty="0">
                          <a:solidFill>
                            <a:srgbClr val="FFFFFF"/>
                          </a:solidFill>
                        </a:rPr>
                        <a:t>WER</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065A82"/>
                    </a:solidFill>
                  </a:tcPr>
                </a:tc>
                <a:tc>
                  <a:txBody>
                    <a:bodyPr/>
                    <a:lstStyle/>
                    <a:p>
                      <a:pPr indent="0" marL="0">
                        <a:buNone/>
                      </a:pPr>
                      <a:r>
                        <a:rPr lang="en-US" sz="1050" b="1" dirty="0">
                          <a:solidFill>
                            <a:srgbClr val="FFFFFF"/>
                          </a:solidFill>
                        </a:rPr>
                        <a:t>MOS</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solidFill>
                      <a:srgbClr val="065A82"/>
                    </a:solidFill>
                  </a:tcPr>
                </a:tc>
              </a:tr>
              <a:tr h="329184">
                <a:tc>
                  <a:txBody>
                    <a:bodyPr/>
                    <a:lstStyle/>
                    <a:p>
                      <a:pPr indent="0" marL="0">
                        <a:buNone/>
                      </a:pPr>
                      <a:r>
                        <a:rPr lang="en-US" sz="1050" b="1" dirty="0">
                          <a:solidFill>
                            <a:srgbClr val="065A82"/>
                          </a:solidFill>
                        </a:rPr>
                        <a:t>R0</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dirty="0">
                          <a:solidFill>
                            <a:srgbClr val="3A4A58"/>
                          </a:solidFill>
                        </a:rPr>
                        <a:t>real recording</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b="1" dirty="0">
                          <a:solidFill>
                            <a:srgbClr val="3A4A58"/>
                          </a:solidFill>
                        </a:rPr>
                        <a:t>1.85%</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b="1" dirty="0">
                          <a:solidFill>
                            <a:srgbClr val="3A4A58"/>
                          </a:solidFill>
                        </a:rPr>
                        <a:t>4.88</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r>
              <a:tr h="329184">
                <a:tc>
                  <a:txBody>
                    <a:bodyPr/>
                    <a:lstStyle/>
                    <a:p>
                      <a:pPr indent="0" marL="0">
                        <a:buNone/>
                      </a:pPr>
                      <a:r>
                        <a:rPr lang="en-US" sz="1050" b="1" dirty="0">
                          <a:solidFill>
                            <a:srgbClr val="065A82"/>
                          </a:solidFill>
                        </a:rPr>
                        <a:t>R1</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dirty="0">
                          <a:solidFill>
                            <a:srgbClr val="3A4A58"/>
                          </a:solidFill>
                        </a:rPr>
                        <a:t>real picture → vocoder</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b="1" dirty="0">
                          <a:solidFill>
                            <a:srgbClr val="3A4A58"/>
                          </a:solidFill>
                        </a:rPr>
                        <a:t>2.48%</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b="1" dirty="0">
                          <a:solidFill>
                            <a:srgbClr val="3A4A58"/>
                          </a:solidFill>
                        </a:rPr>
                        <a:t>4.16</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r>
              <a:tr h="329184">
                <a:tc>
                  <a:txBody>
                    <a:bodyPr/>
                    <a:lstStyle/>
                    <a:p>
                      <a:pPr indent="0" marL="0">
                        <a:buNone/>
                      </a:pPr>
                      <a:r>
                        <a:rPr lang="en-US" sz="1050" b="1" dirty="0">
                          <a:solidFill>
                            <a:srgbClr val="065A82"/>
                          </a:solidFill>
                        </a:rPr>
                        <a:t>A1</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dirty="0">
                          <a:solidFill>
                            <a:srgbClr val="3A4A58"/>
                          </a:solidFill>
                        </a:rPr>
                        <a:t>templates + REAL timings</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b="1" dirty="0">
                          <a:solidFill>
                            <a:srgbClr val="3A4A58"/>
                          </a:solidFill>
                        </a:rPr>
                        <a:t>23.65%</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b="1" dirty="0">
                          <a:solidFill>
                            <a:srgbClr val="3A4A58"/>
                          </a:solidFill>
                        </a:rPr>
                        <a:t>1.84</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r>
              <a:tr h="329184">
                <a:tc>
                  <a:txBody>
                    <a:bodyPr/>
                    <a:lstStyle/>
                    <a:p>
                      <a:pPr indent="0" marL="0">
                        <a:buNone/>
                      </a:pPr>
                      <a:r>
                        <a:rPr lang="en-US" sz="1050" b="1" dirty="0">
                          <a:solidFill>
                            <a:srgbClr val="02C39A"/>
                          </a:solidFill>
                        </a:rPr>
                        <a:t>A2</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dirty="0">
                          <a:solidFill>
                            <a:srgbClr val="3A4A58"/>
                          </a:solidFill>
                        </a:rPr>
                        <a:t>templates + PREDICTED</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b="1" dirty="0">
                          <a:solidFill>
                            <a:srgbClr val="02C39A"/>
                          </a:solidFill>
                        </a:rPr>
                        <a:t>21.15%</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c>
                  <a:txBody>
                    <a:bodyPr/>
                    <a:lstStyle/>
                    <a:p>
                      <a:pPr indent="0" marL="0">
                        <a:buNone/>
                      </a:pPr>
                      <a:r>
                        <a:rPr lang="en-US" sz="1050" b="1" dirty="0">
                          <a:solidFill>
                            <a:srgbClr val="02C39A"/>
                          </a:solidFill>
                        </a:rPr>
                        <a:t>1.76</a:t>
                      </a:r>
                      <a:endParaRPr lang="en-US" sz="1050" dirty="0"/>
                    </a:p>
                  </a:txBody>
                  <a:tcPr marL="54864" marR="54864" marT="54864" marB="54864">
                    <a:lnL w="12700" cap="flat" cmpd="sng" algn="ctr">
                      <a:solidFill>
                        <a:srgbClr val="D7E3EA"/>
                      </a:solidFill>
                      <a:prstDash val="solid"/>
                      <a:round/>
                      <a:headEnd type="none" w="med" len="med"/>
                      <a:tailEnd type="none" w="med" len="med"/>
                    </a:lnL>
                    <a:lnR w="12700" cap="flat" cmpd="sng" algn="ctr">
                      <a:solidFill>
                        <a:srgbClr val="D7E3EA"/>
                      </a:solidFill>
                      <a:prstDash val="solid"/>
                      <a:round/>
                      <a:headEnd type="none" w="med" len="med"/>
                      <a:tailEnd type="none" w="med" len="med"/>
                    </a:lnR>
                    <a:lnT w="12700" cap="flat" cmpd="sng" algn="ctr">
                      <a:solidFill>
                        <a:srgbClr val="D7E3EA"/>
                      </a:solidFill>
                      <a:prstDash val="solid"/>
                      <a:round/>
                      <a:headEnd type="none" w="med" len="med"/>
                      <a:tailEnd type="none" w="med" len="med"/>
                    </a:lnT>
                    <a:lnB w="12700" cap="flat" cmpd="sng" algn="ctr">
                      <a:solidFill>
                        <a:srgbClr val="D7E3EA"/>
                      </a:solidFill>
                      <a:prstDash val="solid"/>
                      <a:round/>
                      <a:headEnd type="none" w="med" len="med"/>
                      <a:tailEnd type="none" w="med" len="med"/>
                    </a:lnB>
                  </a:tcPr>
                </a:tc>
              </a:tr>
            </a:tbl>
          </a:graphicData>
        </a:graphic>
      </p:graphicFrame>
      <p:sp>
        <p:nvSpPr>
          <p:cNvPr id="22" name="Text 18"/>
          <p:cNvSpPr txBox="1"/>
          <p:nvPr/>
        </p:nvSpPr>
        <p:spPr>
          <a:xfrm>
            <a:off x="6309360" y="3017520"/>
            <a:ext cx="5212080" cy="274320"/>
          </a:xfrm>
          <a:prstGeom prst="rect">
            <a:avLst/>
          </a:prstGeom>
          <a:noFill/>
          <a:ln/>
        </p:spPr>
        <p:txBody>
          <a:bodyPr wrap="square" lIns="0" tIns="0" rIns="0" bIns="0" rtlCol="0" anchor="ctr"/>
          <a:lstStyle/>
          <a:p>
            <a:pPr indent="0" marL="0">
              <a:buNone/>
            </a:pPr>
            <a:r>
              <a:rPr lang="en-US" sz="1250" b="1" dirty="0">
                <a:solidFill>
                  <a:schemeClr val="accent1"/>
                </a:solidFill>
              </a:rPr>
              <a:t>3 — Reading the chain: one step at a time</a:t>
            </a:r>
            <a:endParaRPr lang="en-US" sz="1250" dirty="0"/>
          </a:p>
        </p:txBody>
      </p:sp>
      <p:sp>
        <p:nvSpPr>
          <p:cNvPr id="23" name="Text 19"/>
          <p:cNvSpPr txBox="1"/>
          <p:nvPr/>
        </p:nvSpPr>
        <p:spPr>
          <a:xfrm>
            <a:off x="6309360" y="3346704"/>
            <a:ext cx="1005840" cy="256032"/>
          </a:xfrm>
          <a:prstGeom prst="rect">
            <a:avLst/>
          </a:prstGeom>
          <a:noFill/>
          <a:ln/>
        </p:spPr>
        <p:txBody>
          <a:bodyPr wrap="square" lIns="0" tIns="0" rIns="0" bIns="0" rtlCol="0" anchor="ctr"/>
          <a:lstStyle/>
          <a:p>
            <a:pPr indent="0" marL="0">
              <a:buNone/>
            </a:pPr>
            <a:r>
              <a:rPr lang="en-US" sz="1050" b="1" dirty="0">
                <a:solidFill>
                  <a:srgbClr val="6B7A88"/>
                </a:solidFill>
              </a:rPr>
              <a:t>R0 → R1</a:t>
            </a:r>
            <a:endParaRPr lang="en-US" sz="1050" dirty="0"/>
          </a:p>
        </p:txBody>
      </p:sp>
      <p:sp>
        <p:nvSpPr>
          <p:cNvPr id="24" name="Text 20"/>
          <p:cNvSpPr txBox="1"/>
          <p:nvPr/>
        </p:nvSpPr>
        <p:spPr>
          <a:xfrm>
            <a:off x="7269480" y="3346704"/>
            <a:ext cx="1051560" cy="256032"/>
          </a:xfrm>
          <a:prstGeom prst="rect">
            <a:avLst/>
          </a:prstGeom>
          <a:noFill/>
          <a:ln/>
        </p:spPr>
        <p:txBody>
          <a:bodyPr wrap="square" lIns="0" tIns="0" rIns="0" bIns="0" rtlCol="0" anchor="ctr"/>
          <a:lstStyle/>
          <a:p>
            <a:pPr indent="0" marL="0">
              <a:buNone/>
            </a:pPr>
            <a:r>
              <a:rPr lang="en-US" sz="1250" b="1" dirty="0">
                <a:solidFill>
                  <a:srgbClr val="1C7293"/>
                </a:solidFill>
              </a:rPr>
              <a:t>+0.63 pp</a:t>
            </a:r>
            <a:endParaRPr lang="en-US" sz="1250" dirty="0"/>
          </a:p>
        </p:txBody>
      </p:sp>
      <p:sp>
        <p:nvSpPr>
          <p:cNvPr id="25" name="Text 21"/>
          <p:cNvSpPr txBox="1"/>
          <p:nvPr/>
        </p:nvSpPr>
        <p:spPr>
          <a:xfrm>
            <a:off x="8366760" y="3364992"/>
            <a:ext cx="3154680" cy="256032"/>
          </a:xfrm>
          <a:prstGeom prst="rect">
            <a:avLst/>
          </a:prstGeom>
          <a:noFill/>
          <a:ln/>
        </p:spPr>
        <p:txBody>
          <a:bodyPr wrap="square" lIns="0" tIns="0" rIns="0" bIns="0" rtlCol="0" anchor="ctr"/>
          <a:lstStyle/>
          <a:p>
            <a:pPr indent="0" marL="0">
              <a:buNone/>
            </a:pPr>
            <a:r>
              <a:rPr lang="en-US" sz="1000" dirty="0">
                <a:solidFill>
                  <a:srgbClr val="3A4A58"/>
                </a:solidFill>
              </a:rPr>
              <a:t>the vocoder — nearly free</a:t>
            </a:r>
            <a:endParaRPr lang="en-US" sz="1000" dirty="0"/>
          </a:p>
        </p:txBody>
      </p:sp>
      <p:sp>
        <p:nvSpPr>
          <p:cNvPr id="26" name="Text 22"/>
          <p:cNvSpPr txBox="1"/>
          <p:nvPr/>
        </p:nvSpPr>
        <p:spPr>
          <a:xfrm>
            <a:off x="6309360" y="3712464"/>
            <a:ext cx="1005840" cy="256032"/>
          </a:xfrm>
          <a:prstGeom prst="rect">
            <a:avLst/>
          </a:prstGeom>
          <a:noFill/>
          <a:ln/>
        </p:spPr>
        <p:txBody>
          <a:bodyPr wrap="square" lIns="0" tIns="0" rIns="0" bIns="0" rtlCol="0" anchor="ctr"/>
          <a:lstStyle/>
          <a:p>
            <a:pPr indent="0" marL="0">
              <a:buNone/>
            </a:pPr>
            <a:r>
              <a:rPr lang="en-US" sz="1050" b="1" dirty="0">
                <a:solidFill>
                  <a:srgbClr val="6B7A88"/>
                </a:solidFill>
              </a:rPr>
              <a:t>R1 → A1</a:t>
            </a:r>
            <a:endParaRPr lang="en-US" sz="1050" dirty="0"/>
          </a:p>
        </p:txBody>
      </p:sp>
      <p:sp>
        <p:nvSpPr>
          <p:cNvPr id="27" name="Text 23"/>
          <p:cNvSpPr txBox="1"/>
          <p:nvPr/>
        </p:nvSpPr>
        <p:spPr>
          <a:xfrm>
            <a:off x="7269480" y="3712464"/>
            <a:ext cx="1051560" cy="256032"/>
          </a:xfrm>
          <a:prstGeom prst="rect">
            <a:avLst/>
          </a:prstGeom>
          <a:noFill/>
          <a:ln/>
        </p:spPr>
        <p:txBody>
          <a:bodyPr wrap="square" lIns="0" tIns="0" rIns="0" bIns="0" rtlCol="0" anchor="ctr"/>
          <a:lstStyle/>
          <a:p>
            <a:pPr indent="0" marL="0">
              <a:buNone/>
            </a:pPr>
            <a:r>
              <a:rPr lang="en-US" sz="1250" b="1" dirty="0">
                <a:solidFill>
                  <a:srgbClr val="B85042"/>
                </a:solidFill>
              </a:rPr>
              <a:t>+21.17 pp</a:t>
            </a:r>
            <a:endParaRPr lang="en-US" sz="1250" dirty="0"/>
          </a:p>
        </p:txBody>
      </p:sp>
      <p:sp>
        <p:nvSpPr>
          <p:cNvPr id="28" name="Text 24"/>
          <p:cNvSpPr txBox="1"/>
          <p:nvPr/>
        </p:nvSpPr>
        <p:spPr>
          <a:xfrm>
            <a:off x="8366760" y="3730752"/>
            <a:ext cx="3154680" cy="256032"/>
          </a:xfrm>
          <a:prstGeom prst="rect">
            <a:avLst/>
          </a:prstGeom>
          <a:noFill/>
          <a:ln/>
        </p:spPr>
        <p:txBody>
          <a:bodyPr wrap="square" lIns="0" tIns="0" rIns="0" bIns="0" rtlCol="0" anchor="ctr"/>
          <a:lstStyle/>
          <a:p>
            <a:pPr indent="0" marL="0">
              <a:buNone/>
            </a:pPr>
            <a:r>
              <a:rPr lang="en-US" sz="1000" dirty="0">
                <a:solidFill>
                  <a:srgbClr val="3A4A58"/>
                </a:solidFill>
              </a:rPr>
              <a:t>averaged templates — ALL the loss</a:t>
            </a:r>
            <a:endParaRPr lang="en-US" sz="1000" dirty="0"/>
          </a:p>
        </p:txBody>
      </p:sp>
      <p:sp>
        <p:nvSpPr>
          <p:cNvPr id="29" name="Text 25"/>
          <p:cNvSpPr txBox="1"/>
          <p:nvPr/>
        </p:nvSpPr>
        <p:spPr>
          <a:xfrm>
            <a:off x="6309360" y="4078224"/>
            <a:ext cx="1005840" cy="256032"/>
          </a:xfrm>
          <a:prstGeom prst="rect">
            <a:avLst/>
          </a:prstGeom>
          <a:noFill/>
          <a:ln/>
        </p:spPr>
        <p:txBody>
          <a:bodyPr wrap="square" lIns="0" tIns="0" rIns="0" bIns="0" rtlCol="0" anchor="ctr"/>
          <a:lstStyle/>
          <a:p>
            <a:pPr indent="0" marL="0">
              <a:buNone/>
            </a:pPr>
            <a:r>
              <a:rPr lang="en-US" sz="1050" b="1" dirty="0">
                <a:solidFill>
                  <a:srgbClr val="6B7A88"/>
                </a:solidFill>
              </a:rPr>
              <a:t>A1 → A2</a:t>
            </a:r>
            <a:endParaRPr lang="en-US" sz="1050" dirty="0"/>
          </a:p>
        </p:txBody>
      </p:sp>
      <p:sp>
        <p:nvSpPr>
          <p:cNvPr id="30" name="Text 26"/>
          <p:cNvSpPr txBox="1"/>
          <p:nvPr/>
        </p:nvSpPr>
        <p:spPr>
          <a:xfrm>
            <a:off x="7269480" y="4078224"/>
            <a:ext cx="1051560" cy="256032"/>
          </a:xfrm>
          <a:prstGeom prst="rect">
            <a:avLst/>
          </a:prstGeom>
          <a:noFill/>
          <a:ln/>
        </p:spPr>
        <p:txBody>
          <a:bodyPr wrap="square" lIns="0" tIns="0" rIns="0" bIns="0" rtlCol="0" anchor="ctr"/>
          <a:lstStyle/>
          <a:p>
            <a:pPr indent="0" marL="0">
              <a:buNone/>
            </a:pPr>
            <a:r>
              <a:rPr lang="en-US" sz="1250" b="1" dirty="0">
                <a:solidFill>
                  <a:srgbClr val="02C39A"/>
                </a:solidFill>
              </a:rPr>
              <a:t>−2.50 pp</a:t>
            </a:r>
            <a:endParaRPr lang="en-US" sz="1250" dirty="0"/>
          </a:p>
        </p:txBody>
      </p:sp>
      <p:sp>
        <p:nvSpPr>
          <p:cNvPr id="31" name="Text 27"/>
          <p:cNvSpPr txBox="1"/>
          <p:nvPr/>
        </p:nvSpPr>
        <p:spPr>
          <a:xfrm>
            <a:off x="8366760" y="4096512"/>
            <a:ext cx="3154680" cy="256032"/>
          </a:xfrm>
          <a:prstGeom prst="rect">
            <a:avLst/>
          </a:prstGeom>
          <a:noFill/>
          <a:ln/>
        </p:spPr>
        <p:txBody>
          <a:bodyPr wrap="square" lIns="0" tIns="0" rIns="0" bIns="0" rtlCol="0" anchor="ctr"/>
          <a:lstStyle/>
          <a:p>
            <a:pPr indent="0" marL="0">
              <a:buNone/>
            </a:pPr>
            <a:r>
              <a:rPr lang="en-US" sz="1000" dirty="0">
                <a:solidFill>
                  <a:srgbClr val="3A4A58"/>
                </a:solidFill>
              </a:rPr>
              <a:t>predicting timings — cost nothing</a:t>
            </a:r>
            <a:endParaRPr lang="en-US" sz="1000" dirty="0"/>
          </a:p>
        </p:txBody>
      </p:sp>
      <p:sp>
        <p:nvSpPr>
          <p:cNvPr id="32" name="surprise"/>
          <p:cNvSpPr/>
          <p:nvPr/>
        </p:nvSpPr>
        <p:spPr>
          <a:xfrm>
            <a:off x="6309360" y="4526280"/>
            <a:ext cx="5212080" cy="1371600"/>
          </a:xfrm>
          <a:prstGeom prst="roundRect">
            <a:avLst>
              <a:gd name="adj" fmla="val 3333"/>
            </a:avLst>
          </a:prstGeom>
          <a:solidFill>
            <a:schemeClr val="bg2"/>
          </a:solidFill>
          <a:ln w="12700">
            <a:solidFill>
              <a:srgbClr val="D7E3EA"/>
            </a:solidFill>
            <a:prstDash val="solid"/>
          </a:ln>
        </p:spPr>
      </p:sp>
      <p:sp>
        <p:nvSpPr>
          <p:cNvPr id="33" name="Text 29"/>
          <p:cNvSpPr txBox="1"/>
          <p:nvPr/>
        </p:nvSpPr>
        <p:spPr>
          <a:xfrm>
            <a:off x="6537960" y="4663440"/>
            <a:ext cx="4754880" cy="256032"/>
          </a:xfrm>
          <a:prstGeom prst="rect">
            <a:avLst/>
          </a:prstGeom>
          <a:noFill/>
          <a:ln/>
        </p:spPr>
        <p:txBody>
          <a:bodyPr wrap="square" lIns="0" tIns="0" rIns="0" bIns="0" rtlCol="0" anchor="ctr"/>
          <a:lstStyle/>
          <a:p>
            <a:pPr indent="0" marL="0">
              <a:buNone/>
            </a:pPr>
            <a:r>
              <a:rPr lang="en-US" sz="1100" b="1" dirty="0">
                <a:solidFill>
                  <a:schemeClr val="accent6"/>
                </a:solidFill>
              </a:rPr>
              <a:t>The surprise</a:t>
            </a:r>
            <a:endParaRPr lang="en-US" sz="1100" dirty="0"/>
          </a:p>
        </p:txBody>
      </p:sp>
      <p:sp>
        <p:nvSpPr>
          <p:cNvPr id="34" name="Text 30"/>
          <p:cNvSpPr txBox="1"/>
          <p:nvPr/>
        </p:nvSpPr>
        <p:spPr>
          <a:xfrm>
            <a:off x="6537960" y="4919472"/>
            <a:ext cx="4754880" cy="914400"/>
          </a:xfrm>
          <a:prstGeom prst="rect">
            <a:avLst/>
          </a:prstGeom>
          <a:noFill/>
          <a:ln/>
        </p:spPr>
        <p:txBody>
          <a:bodyPr wrap="square" lIns="0" tIns="0" rIns="0" bIns="0" rtlCol="0" anchor="ctr"/>
          <a:lstStyle/>
          <a:p>
            <a:pPr indent="0" marL="0">
              <a:buNone/>
            </a:pPr>
            <a:r>
              <a:rPr lang="en-US" sz="950" dirty="0">
                <a:solidFill>
                  <a:srgbClr val="3A4A58"/>
                </a:solidFill>
              </a:rPr>
              <a:t>We expected A2 to be worse. It was not — but A2 wins on only 40 of 100 clips (p = 0.048 and 0.100), and on naturalness 21 of 25 ratings were tied (p = 0.317). So the honest claim is no measurable effect, not that predicted beats real.</a:t>
            </a:r>
            <a:endParaRPr lang="en-US" sz="950" dirty="0"/>
          </a:p>
        </p:txBody>
      </p:sp>
      <p:sp>
        <p:nvSpPr>
          <p:cNvPr id="25" name="Slide Number Placeholder 0"/>
          <p:cNvSpPr>
            <a:spLocks noGrp="1"/>
          </p:cNvSpPr>
          <p:nvPr>
            <p:ph type="sldNum" sz="quarter" idx="4294967295"/>
          </p:nvPr>
        </p:nvSpPr>
        <p:spPr>
          <a:xfrm>
            <a:off x="113842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7B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384048"/>
            <a:ext cx="10881360" cy="658368"/>
          </a:xfrm>
          <a:prstGeom prst="rect">
            <a:avLst/>
          </a:prstGeom>
          <a:noFill/>
          <a:ln/>
        </p:spPr>
        <p:txBody>
          <a:bodyPr wrap="square" rtlCol="0"/>
          <a:lstStyle/>
          <a:p>
            <a:pPr algn="l" indent="0" marL="0">
              <a:buNone/>
            </a:pPr>
            <a:r>
              <a:rPr lang="en-US" sz="3200" b="1" dirty="0">
                <a:solidFill>
                  <a:schemeClr val="bg1"/>
                </a:solidFill>
              </a:rPr>
              <a:t>What we learned</a:t>
            </a:r>
            <a:endParaRPr lang="en-US" sz="3200" dirty="0"/>
          </a:p>
        </p:txBody>
      </p:sp>
      <p:sp>
        <p:nvSpPr>
          <p:cNvPr id="3" name="fd1.35"/>
          <p:cNvSpPr/>
          <p:nvPr/>
        </p:nvSpPr>
        <p:spPr>
          <a:xfrm>
            <a:off x="685800" y="1271016"/>
            <a:ext cx="274320" cy="274320"/>
          </a:xfrm>
          <a:prstGeom prst="ellipse">
            <a:avLst/>
          </a:prstGeom>
          <a:solidFill>
            <a:schemeClr val="accent2"/>
          </a:solidFill>
          <a:ln/>
        </p:spPr>
      </p:sp>
      <p:sp>
        <p:nvSpPr>
          <p:cNvPr id="4" name="Text 2"/>
          <p:cNvSpPr txBox="1"/>
          <p:nvPr/>
        </p:nvSpPr>
        <p:spPr>
          <a:xfrm>
            <a:off x="1097280" y="1234440"/>
            <a:ext cx="10332720" cy="329184"/>
          </a:xfrm>
          <a:prstGeom prst="rect">
            <a:avLst/>
          </a:prstGeom>
          <a:noFill/>
          <a:ln/>
        </p:spPr>
        <p:txBody>
          <a:bodyPr wrap="square" lIns="0" tIns="0" rIns="0" bIns="0" rtlCol="0" anchor="ctr"/>
          <a:lstStyle/>
          <a:p>
            <a:pPr indent="0" marL="0">
              <a:buNone/>
            </a:pPr>
            <a:r>
              <a:rPr lang="en-US" sz="1500" b="1" dirty="0">
                <a:solidFill>
                  <a:srgbClr val="FFFFFF"/>
                </a:solidFill>
              </a:rPr>
              <a:t>Forced alignment gives timing we can trust</a:t>
            </a:r>
            <a:endParaRPr lang="en-US" sz="1500" dirty="0"/>
          </a:p>
        </p:txBody>
      </p:sp>
      <p:sp>
        <p:nvSpPr>
          <p:cNvPr id="5" name="Text 3"/>
          <p:cNvSpPr txBox="1"/>
          <p:nvPr/>
        </p:nvSpPr>
        <p:spPr>
          <a:xfrm>
            <a:off x="1097280" y="1581912"/>
            <a:ext cx="10332720" cy="566928"/>
          </a:xfrm>
          <a:prstGeom prst="rect">
            <a:avLst/>
          </a:prstGeom>
          <a:noFill/>
          <a:ln/>
        </p:spPr>
        <p:txBody>
          <a:bodyPr wrap="square" lIns="0" tIns="0" rIns="0" bIns="0" rtlCol="0" anchor="ctr"/>
          <a:lstStyle/>
          <a:p>
            <a:pPr indent="0" marL="0">
              <a:buNone/>
            </a:pPr>
            <a:r>
              <a:rPr lang="en-US" sz="1150" dirty="0">
                <a:solidFill>
                  <a:srgbClr val="AEC6D2"/>
                </a:solidFill>
              </a:rPr>
              <a:t>94.6% of boundaries verified against a 53.7% control, all 13,100 clips aligned, none excluded. It reproduced phonetics we never encoded: stressed vowels 108 ms vs 67 ms.</a:t>
            </a:r>
            <a:endParaRPr lang="en-US" sz="1150" dirty="0"/>
          </a:p>
        </p:txBody>
      </p:sp>
      <p:sp>
        <p:nvSpPr>
          <p:cNvPr id="6" name="fd2.5700000000000003"/>
          <p:cNvSpPr/>
          <p:nvPr/>
        </p:nvSpPr>
        <p:spPr>
          <a:xfrm>
            <a:off x="685800" y="2386584"/>
            <a:ext cx="274320" cy="274320"/>
          </a:xfrm>
          <a:prstGeom prst="ellipse">
            <a:avLst/>
          </a:prstGeom>
          <a:solidFill>
            <a:schemeClr val="accent2"/>
          </a:solidFill>
          <a:ln/>
        </p:spPr>
      </p:sp>
      <p:sp>
        <p:nvSpPr>
          <p:cNvPr id="7" name="Text 5"/>
          <p:cNvSpPr txBox="1"/>
          <p:nvPr/>
        </p:nvSpPr>
        <p:spPr>
          <a:xfrm>
            <a:off x="1097280" y="2350008"/>
            <a:ext cx="10332720" cy="329184"/>
          </a:xfrm>
          <a:prstGeom prst="rect">
            <a:avLst/>
          </a:prstGeom>
          <a:noFill/>
          <a:ln/>
        </p:spPr>
        <p:txBody>
          <a:bodyPr wrap="square" lIns="0" tIns="0" rIns="0" bIns="0" rtlCol="0" anchor="ctr"/>
          <a:lstStyle/>
          <a:p>
            <a:pPr indent="0" marL="0">
              <a:buNone/>
            </a:pPr>
            <a:r>
              <a:rPr lang="en-US" sz="1500" b="1" dirty="0">
                <a:solidFill>
                  <a:srgbClr val="FFFFFF"/>
                </a:solidFill>
              </a:rPr>
              <a:t>Context features clearly beat a per-phone average</a:t>
            </a:r>
            <a:endParaRPr lang="en-US" sz="1500" dirty="0"/>
          </a:p>
        </p:txBody>
      </p:sp>
      <p:sp>
        <p:nvSpPr>
          <p:cNvPr id="8" name="Text 6"/>
          <p:cNvSpPr txBox="1"/>
          <p:nvPr/>
        </p:nvSpPr>
        <p:spPr>
          <a:xfrm>
            <a:off x="1097280" y="2697480"/>
            <a:ext cx="10332720" cy="566928"/>
          </a:xfrm>
          <a:prstGeom prst="rect">
            <a:avLst/>
          </a:prstGeom>
          <a:noFill/>
          <a:ln/>
        </p:spPr>
        <p:txBody>
          <a:bodyPr wrap="square" lIns="0" tIns="0" rIns="0" bIns="0" rtlCol="0" anchor="ctr"/>
          <a:lstStyle/>
          <a:p>
            <a:pPr indent="0" marL="0">
              <a:buNone/>
            </a:pPr>
            <a:r>
              <a:rPr lang="en-US" sz="1150" dirty="0">
                <a:solidFill>
                  <a:srgbClr val="AEC6D2"/>
                </a:solidFill>
              </a:rPr>
              <a:t>35.8% lower duration error (30.61 ms → 19.65 ms). The model independently recovered pre-pausal lengthening.</a:t>
            </a:r>
            <a:endParaRPr lang="en-US" sz="1150" dirty="0"/>
          </a:p>
        </p:txBody>
      </p:sp>
      <p:sp>
        <p:nvSpPr>
          <p:cNvPr id="9" name="fd3.79"/>
          <p:cNvSpPr/>
          <p:nvPr/>
        </p:nvSpPr>
        <p:spPr>
          <a:xfrm>
            <a:off x="685800" y="3502152"/>
            <a:ext cx="274320" cy="274320"/>
          </a:xfrm>
          <a:prstGeom prst="ellipse">
            <a:avLst/>
          </a:prstGeom>
          <a:solidFill>
            <a:schemeClr val="accent2"/>
          </a:solidFill>
          <a:ln/>
        </p:spPr>
      </p:sp>
      <p:sp>
        <p:nvSpPr>
          <p:cNvPr id="10" name="Text 8"/>
          <p:cNvSpPr txBox="1"/>
          <p:nvPr/>
        </p:nvSpPr>
        <p:spPr>
          <a:xfrm>
            <a:off x="1097280" y="3465576"/>
            <a:ext cx="10332720" cy="329184"/>
          </a:xfrm>
          <a:prstGeom prst="rect">
            <a:avLst/>
          </a:prstGeom>
          <a:noFill/>
          <a:ln/>
        </p:spPr>
        <p:txBody>
          <a:bodyPr wrap="square" lIns="0" tIns="0" rIns="0" bIns="0" rtlCol="0" anchor="ctr"/>
          <a:lstStyle/>
          <a:p>
            <a:pPr indent="0" marL="0">
              <a:buNone/>
            </a:pPr>
            <a:r>
              <a:rPr lang="en-US" sz="1500" b="1" dirty="0">
                <a:solidFill>
                  <a:srgbClr val="FFFFFF"/>
                </a:solidFill>
              </a:rPr>
              <a:t>We set out to measure one thing and learned the other matters ~30x more</a:t>
            </a:r>
            <a:endParaRPr lang="en-US" sz="1500" dirty="0"/>
          </a:p>
        </p:txBody>
      </p:sp>
      <p:sp>
        <p:nvSpPr>
          <p:cNvPr id="11" name="Text 9"/>
          <p:cNvSpPr txBox="1"/>
          <p:nvPr/>
        </p:nvSpPr>
        <p:spPr>
          <a:xfrm>
            <a:off x="1097280" y="3813048"/>
            <a:ext cx="10332720" cy="566928"/>
          </a:xfrm>
          <a:prstGeom prst="rect">
            <a:avLst/>
          </a:prstGeom>
          <a:noFill/>
          <a:ln/>
        </p:spPr>
        <p:txBody>
          <a:bodyPr wrap="square" lIns="0" tIns="0" rIns="0" bIns="0" rtlCol="0" anchor="ctr"/>
          <a:lstStyle/>
          <a:p>
            <a:pPr indent="0" marL="0">
              <a:buNone/>
            </a:pPr>
            <a:r>
              <a:rPr lang="en-US" sz="1150" dirty="0">
                <a:solidFill>
                  <a:srgbClr val="AEC6D2"/>
                </a:solidFill>
              </a:rPr>
              <a:t>Predicting durations cost nothing measurable on EITHER metric. The crude acoustic model cost 21 points of WER and 2.32 MOS. So the next effort belongs in the acoustic model — exactly where a diffusion generator would sit.</a:t>
            </a:r>
            <a:endParaRPr lang="en-US" sz="1150" dirty="0"/>
          </a:p>
        </p:txBody>
      </p:sp>
      <p:sp>
        <p:nvSpPr>
          <p:cNvPr id="12" name="Text 10"/>
          <p:cNvSpPr txBox="1"/>
          <p:nvPr/>
        </p:nvSpPr>
        <p:spPr>
          <a:xfrm>
            <a:off x="685800" y="4663440"/>
            <a:ext cx="10515600" cy="274320"/>
          </a:xfrm>
          <a:prstGeom prst="rect">
            <a:avLst/>
          </a:prstGeom>
          <a:noFill/>
          <a:ln/>
        </p:spPr>
        <p:txBody>
          <a:bodyPr wrap="square" lIns="0" tIns="0" rIns="0" bIns="0" rtlCol="0" anchor="ctr"/>
          <a:lstStyle/>
          <a:p>
            <a:pPr indent="0" marL="0">
              <a:buNone/>
            </a:pPr>
            <a:r>
              <a:rPr lang="en-US" sz="1250" b="1" dirty="0">
                <a:solidFill>
                  <a:schemeClr val="accent2"/>
                </a:solidFill>
              </a:rPr>
              <a:t>Being honest about the limits</a:t>
            </a:r>
            <a:endParaRPr lang="en-US" sz="1250" dirty="0"/>
          </a:p>
        </p:txBody>
      </p:sp>
      <p:sp>
        <p:nvSpPr>
          <p:cNvPr id="13" name="Text 11"/>
          <p:cNvSpPr txBox="1"/>
          <p:nvPr/>
        </p:nvSpPr>
        <p:spPr>
          <a:xfrm>
            <a:off x="685800" y="4974336"/>
            <a:ext cx="10515600" cy="100584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8FA9B8"/>
                </a:solidFill>
              </a:rPr>
              <a:t>A2 is told the clip's true total length, so it is not yet a fully autonomous system</a:t>
            </a:r>
            <a:endParaRPr lang="en-US" sz="1100" dirty="0"/>
          </a:p>
          <a:p>
            <a:pPr marL="342900" indent="-342900">
              <a:spcAft>
                <a:spcPts val="400"/>
              </a:spcAft>
              <a:buSzPct val="100000"/>
              <a:buChar char="•"/>
            </a:pPr>
            <a:r>
              <a:rPr lang="en-US" sz="1100" dirty="0">
                <a:solidFill>
                  <a:srgbClr val="8FA9B8"/>
                </a:solidFill>
              </a:rPr>
              <a:t>The listening study is 5 team members, not blind naive listeners — it corroborates WER rather than measuring naturalness independently</a:t>
            </a:r>
            <a:endParaRPr lang="en-US" sz="1100" dirty="0"/>
          </a:p>
          <a:p>
            <a:pPr marL="342900" indent="-342900">
              <a:spcAft>
                <a:spcPts val="400"/>
              </a:spcAft>
              <a:buSzPct val="100000"/>
              <a:buChar char="•"/>
            </a:pPr>
            <a:r>
              <a:rPr lang="en-US" sz="1100" dirty="0">
                <a:solidFill>
                  <a:srgbClr val="8FA9B8"/>
                </a:solidFill>
              </a:rPr>
              <a:t>One speaker only, and a deliberately crude acoustic model that caps how good A1 and A2 can ever sound</a:t>
            </a:r>
            <a:endParaRPr lang="en-US" sz="1100" dirty="0"/>
          </a:p>
        </p:txBody>
      </p:sp>
      <p:sp>
        <p:nvSpPr>
          <p:cNvPr id="14" name="Text 12"/>
          <p:cNvSpPr txBox="1"/>
          <p:nvPr/>
        </p:nvSpPr>
        <p:spPr>
          <a:xfrm>
            <a:off x="685800" y="6144768"/>
            <a:ext cx="10515600" cy="320040"/>
          </a:xfrm>
          <a:prstGeom prst="rect">
            <a:avLst/>
          </a:prstGeom>
          <a:noFill/>
          <a:ln/>
        </p:spPr>
        <p:txBody>
          <a:bodyPr wrap="square" lIns="0" tIns="0" rIns="0" bIns="0" rtlCol="0" anchor="ctr"/>
          <a:lstStyle/>
          <a:p>
            <a:pPr indent="0" marL="0">
              <a:buNone/>
            </a:pPr>
            <a:r>
              <a:rPr lang="en-US" sz="1100" i="1" dirty="0">
                <a:solidFill>
                  <a:srgbClr val="02C39A"/>
                </a:solidFill>
              </a:rPr>
              <a:t>Next: predict total length too  ·  replace templates with a learned acoustic model  ·  repeat the listening study blind</a:t>
            </a:r>
            <a:endParaRPr lang="en-US" sz="1100" dirty="0"/>
          </a:p>
        </p:txBody>
      </p:sp>
      <p:sp>
        <p:nvSpPr>
          <p:cNvPr id="25" name="Slide Number Placeholder 0"/>
          <p:cNvSpPr>
            <a:spLocks noGrp="1"/>
          </p:cNvSpPr>
          <p:nvPr>
            <p:ph type="sldNum" sz="quarter" idx="4294967295"/>
          </p:nvPr>
        </p:nvSpPr>
        <p:spPr>
          <a:xfrm>
            <a:off x="113842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8A99"/>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Phonetic Speech">
  <a:themeElements>
    <a:clrScheme name="Phonetic Speech">
      <a:dk1>
        <a:srgbClr val="16213E"/>
      </a:dk1>
      <a:lt1>
        <a:srgbClr val="FFFFFF"/>
      </a:lt1>
      <a:dk2>
        <a:srgbClr val="065A82"/>
      </a:dk2>
      <a:lt2>
        <a:srgbClr val="EEF4F7"/>
      </a:lt2>
      <a:accent1>
        <a:srgbClr val="1C7293"/>
      </a:accent1>
      <a:accent2>
        <a:srgbClr val="02C39A"/>
      </a:accent2>
      <a:accent3>
        <a:srgbClr val="065A82"/>
      </a:accent3>
      <a:accent4>
        <a:srgbClr val="21295C"/>
      </a:accent4>
      <a:accent5>
        <a:srgbClr val="97BC62"/>
      </a:accent5>
      <a:accent6>
        <a:srgbClr val="B85042"/>
      </a:accent6>
      <a:hlink>
        <a:srgbClr val="1C7293"/>
      </a:hlink>
      <a:folHlink>
        <a:srgbClr val="6D2E46"/>
      </a:folHlink>
    </a:clrScheme>
    <a:fontScheme name="Phonetic Spee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Phonetic-Guided Speech Generation</dc:title>
  <dc:subject>PptxGenJS Presentation</dc:subject>
  <dc:creator>Kunal Vats, Pushkar Jain, Tanishk Agrawal, Shaurya Sharma, Chaitanya Shekhawat</dc:creator>
  <cp:lastModifiedBy>Kunal Vats, Pushkar Jain, Tanishk Agrawal, Shaurya Sharma, Chaitanya Shekhawat</cp:lastModifiedBy>
  <cp:revision>1</cp:revision>
  <dcterms:created xsi:type="dcterms:W3CDTF">2026-10-28T09:59:00Z</dcterms:created>
  <dcterms:modified xsi:type="dcterms:W3CDTF">2026-10-28T09:59:00Z</dcterms:modified>
</cp:coreProperties>
</file>